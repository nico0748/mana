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1"/>
  </p:notesMasterIdLst>
  <p:sldIdLst>
    <p:sldId id="259" r:id="rId2"/>
    <p:sldId id="260" r:id="rId3"/>
    <p:sldId id="263" r:id="rId4"/>
    <p:sldId id="270" r:id="rId5"/>
    <p:sldId id="271" r:id="rId6"/>
    <p:sldId id="272" r:id="rId7"/>
    <p:sldId id="285" r:id="rId8"/>
    <p:sldId id="264" r:id="rId9"/>
    <p:sldId id="273" r:id="rId10"/>
    <p:sldId id="274" r:id="rId11"/>
    <p:sldId id="265" r:id="rId12"/>
    <p:sldId id="275" r:id="rId13"/>
    <p:sldId id="276" r:id="rId14"/>
    <p:sldId id="286" r:id="rId15"/>
    <p:sldId id="277" r:id="rId16"/>
    <p:sldId id="267" r:id="rId17"/>
    <p:sldId id="278" r:id="rId18"/>
    <p:sldId id="279" r:id="rId19"/>
    <p:sldId id="280" r:id="rId20"/>
    <p:sldId id="287" r:id="rId21"/>
    <p:sldId id="266" r:id="rId22"/>
    <p:sldId id="281" r:id="rId23"/>
    <p:sldId id="282" r:id="rId24"/>
    <p:sldId id="283" r:id="rId25"/>
    <p:sldId id="289" r:id="rId26"/>
    <p:sldId id="284" r:id="rId27"/>
    <p:sldId id="288" r:id="rId28"/>
    <p:sldId id="257" r:id="rId29"/>
    <p:sldId id="258" r:id="rId30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3CA00"/>
    <a:srgbClr val="F313AD"/>
    <a:srgbClr val="F300C1"/>
    <a:srgbClr val="DFD850"/>
    <a:srgbClr val="F3C715"/>
    <a:srgbClr val="E5BB1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4880"/>
    <p:restoredTop sz="94747"/>
  </p:normalViewPr>
  <p:slideViewPr>
    <p:cSldViewPr snapToGrid="0">
      <p:cViewPr>
        <p:scale>
          <a:sx n="68" d="100"/>
          <a:sy n="68" d="100"/>
        </p:scale>
        <p:origin x="376" y="1312"/>
      </p:cViewPr>
      <p:guideLst/>
    </p:cSldViewPr>
  </p:slideViewPr>
  <p:notesTextViewPr>
    <p:cViewPr>
      <p:scale>
        <a:sx n="20" d="100"/>
        <a:sy n="2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B6D52F9-99E1-6148-83D3-4D03E464EAC8}" type="datetimeFigureOut">
              <a:rPr kumimoji="1" lang="ja-JP" altLang="en-US" smtClean="0"/>
              <a:t>2026/4/11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C7F3C87-F1AA-2D49-B317-56B70284C966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55835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F3C87-F1AA-2D49-B317-56B70284C966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501020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F3C87-F1AA-2D49-B317-56B70284C966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800661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F3C87-F1AA-2D49-B317-56B70284C966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713647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F3C87-F1AA-2D49-B317-56B70284C966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924793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F3C87-F1AA-2D49-B317-56B70284C966}" type="slidenum">
              <a:rPr kumimoji="1" lang="ja-JP" altLang="en-US" smtClean="0"/>
              <a:t>11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9651840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F3C87-F1AA-2D49-B317-56B70284C966}" type="slidenum">
              <a:rPr kumimoji="1" lang="ja-JP" altLang="en-US" smtClean="0"/>
              <a:t>16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547879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F3C87-F1AA-2D49-B317-56B70284C966}" type="slidenum">
              <a:rPr kumimoji="1" lang="ja-JP" altLang="en-US" smtClean="0"/>
              <a:t>20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0859023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F3C87-F1AA-2D49-B317-56B70284C966}" type="slidenum">
              <a:rPr kumimoji="1" lang="ja-JP" altLang="en-US" smtClean="0"/>
              <a:t>21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31807792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C7F3C87-F1AA-2D49-B317-56B70284C966}" type="slidenum">
              <a:rPr kumimoji="1" lang="ja-JP" altLang="en-US" smtClean="0"/>
              <a:t>27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855244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1EE32FB-4C3D-AD0C-D749-8AE068F23B5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077AE756-C5A7-9D61-8F2E-D355E5CA9AB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08CB8C5-0FC3-6DA0-55FE-431C60A4E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BEC1B-C32B-4546-B51C-C207C183EB8D}" type="datetimeFigureOut">
              <a:rPr kumimoji="1" lang="ja-JP" altLang="en-US" smtClean="0"/>
              <a:t>2026/4/11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861A5F8-7016-A25C-8FF7-A39DF04118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97DBE50-7EB4-A505-3A39-A6A7EA543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4391-D088-8748-B35E-CE7FBCF5F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564755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2CD9255-1180-4B16-03C2-C8F1C7D0B5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BE2D98A3-E6BB-6EFB-2932-A135FA4DB1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C08BF1B-658F-764E-4C77-F7483ADF5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BEC1B-C32B-4546-B51C-C207C183EB8D}" type="datetimeFigureOut">
              <a:rPr kumimoji="1" lang="ja-JP" altLang="en-US" smtClean="0"/>
              <a:t>2026/4/11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4528EAE-BBAC-34FB-22B9-49847EF95F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29F1A47-9EBF-CFEE-008B-3DF3E8B030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4391-D088-8748-B35E-CE7FBCF5F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87652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CFC209E-8365-10D9-AC4C-41DF76187E2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A34DD27-5D76-47B4-05F3-399016AD5B6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0DA50A2-1A66-268D-45B5-0D4742B4A8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BEC1B-C32B-4546-B51C-C207C183EB8D}" type="datetimeFigureOut">
              <a:rPr kumimoji="1" lang="ja-JP" altLang="en-US" smtClean="0"/>
              <a:t>2026/4/11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136BCFE-5F9D-107B-A8E2-489E53C70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B04F581-8230-9931-42C0-5ACCEA060C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4391-D088-8748-B35E-CE7FBCF5F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89322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D41579E-0220-D497-1652-647C51C6D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37DDBEF-98C8-1ADF-C2A6-E374E01D6EA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BF9E1E0-C1FC-E585-44CE-80904A189B0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8B8E9C35-D1DE-355E-56C9-68A430ECFE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BEC1B-C32B-4546-B51C-C207C183EB8D}" type="datetimeFigureOut">
              <a:rPr kumimoji="1" lang="ja-JP" altLang="en-US" smtClean="0"/>
              <a:t>2026/4/11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AA4E4AA-DE95-FA8B-0819-B2932EA9A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0854477-9C1D-7540-1EFE-E09409161B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4391-D088-8748-B35E-CE7FBCF5F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12301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6CEE901-9B37-567B-9764-4B34992CDF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44977CF-E5D7-BD64-CD37-BC32F995EF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7691247-14AE-98D4-78C4-22796AF31C0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A8FD77D-BBE9-D48C-C3F9-049B13E0C3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7F29B4EB-6600-18BA-3BCC-5464D8FD6A5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4BB53CB9-2D01-1200-4639-1B6E096E1F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BEC1B-C32B-4546-B51C-C207C183EB8D}" type="datetimeFigureOut">
              <a:rPr kumimoji="1" lang="ja-JP" altLang="en-US" smtClean="0"/>
              <a:t>2026/4/11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16820261-75CA-BDED-4BC4-2287C4103C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19BFC0E8-C245-5FE8-4FCE-A61703BAC8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4391-D088-8748-B35E-CE7FBCF5F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414973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7BA0516-CA8A-E202-2893-A6296B3D23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22DBC52C-518D-4E68-E45F-4F5AF20892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BEC1B-C32B-4546-B51C-C207C183EB8D}" type="datetimeFigureOut">
              <a:rPr kumimoji="1" lang="ja-JP" altLang="en-US" smtClean="0"/>
              <a:t>2026/4/11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B93EA0ED-1749-536F-6593-02345DA793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1A86E19-93F5-CE7B-C553-93211118FD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4391-D088-8748-B35E-CE7FBCF5F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5605109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EE71F79-24B3-6BBE-6F4D-EE1FAB68F9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BEC1B-C32B-4546-B51C-C207C183EB8D}" type="datetimeFigureOut">
              <a:rPr kumimoji="1" lang="ja-JP" altLang="en-US" smtClean="0"/>
              <a:t>2026/4/11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D596B85-5F6A-09B0-4718-850727C726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5B5E6D9-FADC-C74C-B53F-C9E501F96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4391-D088-8748-B35E-CE7FBCF5F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5536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B5B11D-659C-EF1A-A188-D8ADD2F08F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D99942A-80FF-B9E9-FCE0-AD63160E8A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98ABD600-7861-5C31-6058-F0EED370268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218A2FE-58D0-721B-D8B3-8D0B83158A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BEC1B-C32B-4546-B51C-C207C183EB8D}" type="datetimeFigureOut">
              <a:rPr kumimoji="1" lang="ja-JP" altLang="en-US" smtClean="0"/>
              <a:t>2026/4/11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43A1B3E-F598-3930-3A1C-2DCD31CF63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B35B25A-536E-760D-6884-EBA0638DDB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4391-D088-8748-B35E-CE7FBCF5F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2742572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D2C201B-F58B-345F-E9D7-072A4810F8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94A75B3B-6E90-5616-C9B4-0E42BD26EE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BA97DE06-D38F-2AE6-846C-9051A9571F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4BD422D0-3960-89C9-902F-363531C580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BEC1B-C32B-4546-B51C-C207C183EB8D}" type="datetimeFigureOut">
              <a:rPr kumimoji="1" lang="ja-JP" altLang="en-US" smtClean="0"/>
              <a:t>2026/4/11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195C5929-B7B7-1D92-07E0-0A4EC612F38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1FFC52E-ADF2-820F-23DE-D2EE2EC01A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4391-D088-8748-B35E-CE7FBCF5F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07646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4C3AF7-26FF-DD6C-9D5C-3DE0559E32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605B135-244F-7276-92E9-C4FAEB0AC9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4C144DE-AB6B-325F-174D-87B9E8F41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BEC1B-C32B-4546-B51C-C207C183EB8D}" type="datetimeFigureOut">
              <a:rPr kumimoji="1" lang="ja-JP" altLang="en-US" smtClean="0"/>
              <a:t>2026/4/11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B73886F-32C8-8911-BD13-B8DDC9726A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ADF5317-79EB-F665-9D41-0C0BD21F7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4391-D088-8748-B35E-CE7FBCF5F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0828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 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12889E2-02AF-8D97-4FCA-7BAEB3C1B48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6F0EE61-D6B4-092A-5C28-AEBDFFFBF99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5D02092-7CF4-0458-9FAC-3291D7C20A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CBEC1B-C32B-4546-B51C-C207C183EB8D}" type="datetimeFigureOut">
              <a:rPr kumimoji="1" lang="ja-JP" altLang="en-US" smtClean="0"/>
              <a:t>2026/4/11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568292E7-01BA-6433-2AA8-2AF9A0D079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203761B-C2AC-A596-4DA6-8CA25F1C56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CC4391-D088-8748-B35E-CE7FBCF5F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63892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273AA52-B2D1-1C4E-3263-F639D2B33E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114A74C-21FA-9BF1-E9DA-52A7B27855E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871C8E6-AB30-497B-29EA-A729C9B768B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0CBEC1B-C32B-4546-B51C-C207C183EB8D}" type="datetimeFigureOut">
              <a:rPr kumimoji="1" lang="ja-JP" altLang="en-US" smtClean="0"/>
              <a:t>2026/4/11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B9647A5-63DF-E8B1-659B-E6B74DE7092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44309DA-AD7A-083C-6C04-54DF1A5E427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DCC4391-D088-8748-B35E-CE7FBCF5F88D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37825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13" Type="http://schemas.openxmlformats.org/officeDocument/2006/relationships/image" Target="../media/image10.png"/><Relationship Id="rId18" Type="http://schemas.openxmlformats.org/officeDocument/2006/relationships/image" Target="../media/image22.png"/><Relationship Id="rId3" Type="http://schemas.openxmlformats.org/officeDocument/2006/relationships/image" Target="../media/image2.PNG"/><Relationship Id="rId21" Type="http://schemas.openxmlformats.org/officeDocument/2006/relationships/image" Target="../media/image25.png"/><Relationship Id="rId7" Type="http://schemas.openxmlformats.org/officeDocument/2006/relationships/image" Target="../media/image14.png"/><Relationship Id="rId12" Type="http://schemas.openxmlformats.org/officeDocument/2006/relationships/image" Target="../media/image18.png"/><Relationship Id="rId17" Type="http://schemas.openxmlformats.org/officeDocument/2006/relationships/image" Target="../media/image21.png"/><Relationship Id="rId25" Type="http://schemas.openxmlformats.org/officeDocument/2006/relationships/image" Target="../media/image9.png"/><Relationship Id="rId2" Type="http://schemas.openxmlformats.org/officeDocument/2006/relationships/image" Target="../media/image3.png"/><Relationship Id="rId16" Type="http://schemas.openxmlformats.org/officeDocument/2006/relationships/image" Target="../media/image6.png"/><Relationship Id="rId20" Type="http://schemas.openxmlformats.org/officeDocument/2006/relationships/image" Target="../media/image2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11" Type="http://schemas.openxmlformats.org/officeDocument/2006/relationships/image" Target="../media/image17.png"/><Relationship Id="rId24" Type="http://schemas.openxmlformats.org/officeDocument/2006/relationships/image" Target="../media/image8.png"/><Relationship Id="rId5" Type="http://schemas.openxmlformats.org/officeDocument/2006/relationships/image" Target="../media/image12.png"/><Relationship Id="rId15" Type="http://schemas.openxmlformats.org/officeDocument/2006/relationships/image" Target="../media/image20.png"/><Relationship Id="rId23" Type="http://schemas.openxmlformats.org/officeDocument/2006/relationships/image" Target="../media/image27.png"/><Relationship Id="rId10" Type="http://schemas.openxmlformats.org/officeDocument/2006/relationships/image" Target="../media/image16.png"/><Relationship Id="rId19" Type="http://schemas.openxmlformats.org/officeDocument/2006/relationships/image" Target="../media/image23.png"/><Relationship Id="rId4" Type="http://schemas.openxmlformats.org/officeDocument/2006/relationships/image" Target="../media/image11.png"/><Relationship Id="rId9" Type="http://schemas.openxmlformats.org/officeDocument/2006/relationships/image" Target="../media/image7.png"/><Relationship Id="rId14" Type="http://schemas.openxmlformats.org/officeDocument/2006/relationships/image" Target="../media/image19.png"/><Relationship Id="rId22" Type="http://schemas.openxmlformats.org/officeDocument/2006/relationships/image" Target="../media/image2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13" Type="http://schemas.openxmlformats.org/officeDocument/2006/relationships/image" Target="../media/image3.png"/><Relationship Id="rId3" Type="http://schemas.openxmlformats.org/officeDocument/2006/relationships/image" Target="../media/image39.png"/><Relationship Id="rId7" Type="http://schemas.openxmlformats.org/officeDocument/2006/relationships/image" Target="../media/image30.png"/><Relationship Id="rId12" Type="http://schemas.openxmlformats.org/officeDocument/2006/relationships/image" Target="../media/image4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.png"/><Relationship Id="rId11" Type="http://schemas.openxmlformats.org/officeDocument/2006/relationships/image" Target="../media/image32.png"/><Relationship Id="rId5" Type="http://schemas.openxmlformats.org/officeDocument/2006/relationships/image" Target="../media/image41.png"/><Relationship Id="rId10" Type="http://schemas.openxmlformats.org/officeDocument/2006/relationships/image" Target="../media/image45.png"/><Relationship Id="rId4" Type="http://schemas.openxmlformats.org/officeDocument/2006/relationships/image" Target="../media/image40.png"/><Relationship Id="rId9" Type="http://schemas.openxmlformats.org/officeDocument/2006/relationships/image" Target="../media/image44.png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9.jpg"/><Relationship Id="rId3" Type="http://schemas.openxmlformats.org/officeDocument/2006/relationships/image" Target="../media/image46.png"/><Relationship Id="rId7" Type="http://schemas.openxmlformats.org/officeDocument/2006/relationships/image" Target="../media/image48.jp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7.jpg"/><Relationship Id="rId5" Type="http://schemas.openxmlformats.org/officeDocument/2006/relationships/image" Target="../media/image2.PNG"/><Relationship Id="rId4" Type="http://schemas.openxmlformats.org/officeDocument/2006/relationships/image" Target="../media/image3.png"/><Relationship Id="rId9" Type="http://schemas.openxmlformats.org/officeDocument/2006/relationships/image" Target="../media/image50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フリーフォーム 18">
            <a:extLst>
              <a:ext uri="{FF2B5EF4-FFF2-40B4-BE49-F238E27FC236}">
                <a16:creationId xmlns:a16="http://schemas.microsoft.com/office/drawing/2014/main" id="{E0547A70-D24C-E979-D4E1-BDE121245913}"/>
              </a:ext>
            </a:extLst>
          </p:cNvPr>
          <p:cNvSpPr/>
          <p:nvPr/>
        </p:nvSpPr>
        <p:spPr>
          <a:xfrm>
            <a:off x="-35131" y="-1"/>
            <a:ext cx="10759301" cy="6874933"/>
          </a:xfrm>
          <a:custGeom>
            <a:avLst/>
            <a:gdLst>
              <a:gd name="connsiteX0" fmla="*/ 0 w 9633500"/>
              <a:gd name="connsiteY0" fmla="*/ 0 h 6858000"/>
              <a:gd name="connsiteX1" fmla="*/ 9633500 w 9633500"/>
              <a:gd name="connsiteY1" fmla="*/ 0 h 6858000"/>
              <a:gd name="connsiteX2" fmla="*/ 6689929 w 9633500"/>
              <a:gd name="connsiteY2" fmla="*/ 6858000 h 6858000"/>
              <a:gd name="connsiteX3" fmla="*/ 0 w 9633500"/>
              <a:gd name="connsiteY3" fmla="*/ 6858000 h 6858000"/>
              <a:gd name="connsiteX4" fmla="*/ 0 w 9633500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33500" h="6858000">
                <a:moveTo>
                  <a:pt x="0" y="0"/>
                </a:moveTo>
                <a:lnTo>
                  <a:pt x="9633500" y="0"/>
                </a:lnTo>
                <a:lnTo>
                  <a:pt x="6689929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3CA00">
              <a:alpha val="8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フリーフォーム 16">
            <a:extLst>
              <a:ext uri="{FF2B5EF4-FFF2-40B4-BE49-F238E27FC236}">
                <a16:creationId xmlns:a16="http://schemas.microsoft.com/office/drawing/2014/main" id="{E551B289-52C4-9FF0-450F-84210F573637}"/>
              </a:ext>
            </a:extLst>
          </p:cNvPr>
          <p:cNvSpPr/>
          <p:nvPr/>
        </p:nvSpPr>
        <p:spPr>
          <a:xfrm>
            <a:off x="10854267" y="3217332"/>
            <a:ext cx="1337732" cy="3640667"/>
          </a:xfrm>
          <a:custGeom>
            <a:avLst/>
            <a:gdLst>
              <a:gd name="connsiteX0" fmla="*/ 1975854 w 1975854"/>
              <a:gd name="connsiteY0" fmla="*/ 0 h 4603390"/>
              <a:gd name="connsiteX1" fmla="*/ 1975854 w 1975854"/>
              <a:gd name="connsiteY1" fmla="*/ 4603390 h 4603390"/>
              <a:gd name="connsiteX2" fmla="*/ 0 w 1975854"/>
              <a:gd name="connsiteY2" fmla="*/ 4603390 h 4603390"/>
              <a:gd name="connsiteX3" fmla="*/ 1975854 w 1975854"/>
              <a:gd name="connsiteY3" fmla="*/ 0 h 46033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75854" h="4603390">
                <a:moveTo>
                  <a:pt x="1975854" y="0"/>
                </a:moveTo>
                <a:lnTo>
                  <a:pt x="1975854" y="4603390"/>
                </a:lnTo>
                <a:lnTo>
                  <a:pt x="0" y="4603390"/>
                </a:lnTo>
                <a:lnTo>
                  <a:pt x="1975854" y="0"/>
                </a:lnTo>
                <a:close/>
              </a:path>
            </a:pathLst>
          </a:custGeom>
          <a:solidFill>
            <a:srgbClr val="F3C715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BBFE08A4-A2D1-4FEE-27C3-2FAD1F0D5C74}"/>
              </a:ext>
            </a:extLst>
          </p:cNvPr>
          <p:cNvGrpSpPr/>
          <p:nvPr/>
        </p:nvGrpSpPr>
        <p:grpSpPr>
          <a:xfrm>
            <a:off x="511935" y="1736282"/>
            <a:ext cx="7777705" cy="1862048"/>
            <a:chOff x="4414295" y="2497975"/>
            <a:chExt cx="7777705" cy="1862048"/>
          </a:xfrm>
        </p:grpSpPr>
        <p:pic>
          <p:nvPicPr>
            <p:cNvPr id="2" name="図 1" descr="ロゴ  自動的に生成された説明">
              <a:extLst>
                <a:ext uri="{FF2B5EF4-FFF2-40B4-BE49-F238E27FC236}">
                  <a16:creationId xmlns:a16="http://schemas.microsoft.com/office/drawing/2014/main" id="{AE248058-FE32-D8FD-9BFB-71BBC56D004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2323" t="12390" r="12451" b="10715"/>
            <a:stretch/>
          </p:blipFill>
          <p:spPr>
            <a:xfrm>
              <a:off x="4414295" y="2549224"/>
              <a:ext cx="1721370" cy="1759550"/>
            </a:xfrm>
            <a:prstGeom prst="rect">
              <a:avLst/>
            </a:prstGeom>
            <a:effectLst>
              <a:glow rad="12700">
                <a:schemeClr val="bg1">
                  <a:alpha val="95000"/>
                </a:schemeClr>
              </a:glow>
            </a:effectLst>
          </p:spPr>
        </p:pic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BABBAA52-17C4-9CEE-9EDC-825A280A00EF}"/>
                </a:ext>
              </a:extLst>
            </p:cNvPr>
            <p:cNvSpPr txBox="1"/>
            <p:nvPr/>
          </p:nvSpPr>
          <p:spPr>
            <a:xfrm>
              <a:off x="6135665" y="2497975"/>
              <a:ext cx="6056335" cy="18620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1500">
                  <a:latin typeface="Reggae One" pitchFamily="2" charset="-128"/>
                  <a:ea typeface="Reggae One" pitchFamily="2" charset="-128"/>
                </a:rPr>
                <a:t>同人＋＋</a:t>
              </a:r>
            </a:p>
          </p:txBody>
        </p:sp>
      </p:grp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EA2C13A2-F35A-2BBA-CBAB-0C2D9B6AEBC8}"/>
              </a:ext>
            </a:extLst>
          </p:cNvPr>
          <p:cNvGrpSpPr/>
          <p:nvPr/>
        </p:nvGrpSpPr>
        <p:grpSpPr>
          <a:xfrm>
            <a:off x="8721929" y="443212"/>
            <a:ext cx="2966145" cy="5971576"/>
            <a:chOff x="757204" y="410554"/>
            <a:chExt cx="2966145" cy="5971576"/>
          </a:xfrm>
          <a:effectLst>
            <a:outerShdw dist="91524" dir="5400000" algn="t" rotWithShape="0">
              <a:prstClr val="black">
                <a:alpha val="62038"/>
              </a:prstClr>
            </a:outerShdw>
          </a:effectLst>
        </p:grpSpPr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6EDAD098-2003-C2EA-305E-5255C33033B8}"/>
                </a:ext>
              </a:extLst>
            </p:cNvPr>
            <p:cNvSpPr txBox="1"/>
            <p:nvPr/>
          </p:nvSpPr>
          <p:spPr>
            <a:xfrm>
              <a:off x="2698230" y="629587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kumimoji="1" lang="ja-JP" altLang="en-US"/>
            </a:p>
          </p:txBody>
        </p:sp>
        <p:pic>
          <p:nvPicPr>
            <p:cNvPr id="10" name="図 9" descr="携帯電話の画面のスクリーンショット  自動的に生成された説明">
              <a:extLst>
                <a:ext uri="{FF2B5EF4-FFF2-40B4-BE49-F238E27FC236}">
                  <a16:creationId xmlns:a16="http://schemas.microsoft.com/office/drawing/2014/main" id="{E4265038-EE14-C4F2-6917-EB6E7B2C3F7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808"/>
            <a:stretch>
              <a:fillRect/>
            </a:stretch>
          </p:blipFill>
          <p:spPr>
            <a:xfrm>
              <a:off x="915892" y="557819"/>
              <a:ext cx="2660427" cy="5710901"/>
            </a:xfrm>
            <a:custGeom>
              <a:avLst/>
              <a:gdLst>
                <a:gd name="connsiteX0" fmla="*/ 430997 w 2626994"/>
                <a:gd name="connsiteY0" fmla="*/ 0 h 5639133"/>
                <a:gd name="connsiteX1" fmla="*/ 2187784 w 2626994"/>
                <a:gd name="connsiteY1" fmla="*/ 0 h 5639133"/>
                <a:gd name="connsiteX2" fmla="*/ 2626994 w 2626994"/>
                <a:gd name="connsiteY2" fmla="*/ 439210 h 5639133"/>
                <a:gd name="connsiteX3" fmla="*/ 2626994 w 2626994"/>
                <a:gd name="connsiteY3" fmla="*/ 5199923 h 5639133"/>
                <a:gd name="connsiteX4" fmla="*/ 2187784 w 2626994"/>
                <a:gd name="connsiteY4" fmla="*/ 5639133 h 5639133"/>
                <a:gd name="connsiteX5" fmla="*/ 430997 w 2626994"/>
                <a:gd name="connsiteY5" fmla="*/ 5639133 h 5639133"/>
                <a:gd name="connsiteX6" fmla="*/ 710 w 2626994"/>
                <a:gd name="connsiteY6" fmla="*/ 5288439 h 5639133"/>
                <a:gd name="connsiteX7" fmla="*/ 0 w 2626994"/>
                <a:gd name="connsiteY7" fmla="*/ 5281394 h 5639133"/>
                <a:gd name="connsiteX8" fmla="*/ 0 w 2626994"/>
                <a:gd name="connsiteY8" fmla="*/ 357739 h 5639133"/>
                <a:gd name="connsiteX9" fmla="*/ 710 w 2626994"/>
                <a:gd name="connsiteY9" fmla="*/ 350694 h 5639133"/>
                <a:gd name="connsiteX10" fmla="*/ 430997 w 2626994"/>
                <a:gd name="connsiteY10" fmla="*/ 0 h 5639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626994" h="5639133">
                  <a:moveTo>
                    <a:pt x="430997" y="0"/>
                  </a:moveTo>
                  <a:lnTo>
                    <a:pt x="2187784" y="0"/>
                  </a:lnTo>
                  <a:cubicBezTo>
                    <a:pt x="2430353" y="0"/>
                    <a:pt x="2626994" y="196641"/>
                    <a:pt x="2626994" y="439210"/>
                  </a:cubicBezTo>
                  <a:lnTo>
                    <a:pt x="2626994" y="5199923"/>
                  </a:lnTo>
                  <a:cubicBezTo>
                    <a:pt x="2626994" y="5442492"/>
                    <a:pt x="2430353" y="5639133"/>
                    <a:pt x="2187784" y="5639133"/>
                  </a:cubicBezTo>
                  <a:lnTo>
                    <a:pt x="430997" y="5639133"/>
                  </a:lnTo>
                  <a:cubicBezTo>
                    <a:pt x="218749" y="5639133"/>
                    <a:pt x="41665" y="5488580"/>
                    <a:pt x="710" y="5288439"/>
                  </a:cubicBezTo>
                  <a:lnTo>
                    <a:pt x="0" y="5281394"/>
                  </a:lnTo>
                  <a:lnTo>
                    <a:pt x="0" y="357739"/>
                  </a:lnTo>
                  <a:lnTo>
                    <a:pt x="710" y="350694"/>
                  </a:lnTo>
                  <a:cubicBezTo>
                    <a:pt x="41665" y="150553"/>
                    <a:pt x="218749" y="0"/>
                    <a:pt x="430997" y="0"/>
                  </a:cubicBezTo>
                  <a:close/>
                </a:path>
              </a:pathLst>
            </a:custGeom>
          </p:spPr>
        </p:pic>
        <p:pic>
          <p:nvPicPr>
            <p:cNvPr id="3" name="図 2" descr="グラフィカル ユーザー インターフェイス, アプリケーション  自動的に生成された説明">
              <a:extLst>
                <a:ext uri="{FF2B5EF4-FFF2-40B4-BE49-F238E27FC236}">
                  <a16:creationId xmlns:a16="http://schemas.microsoft.com/office/drawing/2014/main" id="{9EFFA348-4F53-9543-A865-38D6103137A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57204" y="410554"/>
              <a:ext cx="2966145" cy="5971576"/>
            </a:xfrm>
            <a:prstGeom prst="rect">
              <a:avLst/>
            </a:prstGeom>
          </p:spPr>
        </p:pic>
      </p:grp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028442A8-16E6-B476-9403-29DAF4AA7BD6}"/>
              </a:ext>
            </a:extLst>
          </p:cNvPr>
          <p:cNvSpPr txBox="1"/>
          <p:nvPr/>
        </p:nvSpPr>
        <p:spPr>
          <a:xfrm>
            <a:off x="650956" y="4066330"/>
            <a:ext cx="78598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dist"/>
            <a:r>
              <a:rPr kumimoji="1" lang="ja-JP" altLang="en-US" sz="2800" b="1" spc="300"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あなたの同人活動にスマートさをプラス！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B0A758DC-7984-3271-F469-4376FE056F7F}"/>
              </a:ext>
            </a:extLst>
          </p:cNvPr>
          <p:cNvSpPr txBox="1"/>
          <p:nvPr/>
        </p:nvSpPr>
        <p:spPr>
          <a:xfrm>
            <a:off x="580991" y="1060613"/>
            <a:ext cx="43813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dist"/>
            <a:r>
              <a:rPr kumimoji="1" lang="ja-JP" altLang="en-US" sz="2000" b="1" u="sng" spc="300">
                <a:solidFill>
                  <a:schemeClr val="tx1">
                    <a:lumMod val="75000"/>
                    <a:lumOff val="25000"/>
                  </a:schemeClr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同人活動支援アプリケーション</a:t>
            </a:r>
          </a:p>
        </p:txBody>
      </p:sp>
    </p:spTree>
    <p:extLst>
      <p:ext uri="{BB962C8B-B14F-4D97-AF65-F5344CB8AC3E}">
        <p14:creationId xmlns:p14="http://schemas.microsoft.com/office/powerpoint/2010/main" val="27404160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03BD6076-174F-B314-7114-457F5AFB50B2}"/>
              </a:ext>
            </a:extLst>
          </p:cNvPr>
          <p:cNvSpPr/>
          <p:nvPr/>
        </p:nvSpPr>
        <p:spPr>
          <a:xfrm>
            <a:off x="6249625" y="0"/>
            <a:ext cx="5942375" cy="6858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E02110E9-EF1A-6A57-EB3B-A5AD6185391A}"/>
              </a:ext>
            </a:extLst>
          </p:cNvPr>
          <p:cNvSpPr txBox="1"/>
          <p:nvPr/>
        </p:nvSpPr>
        <p:spPr>
          <a:xfrm>
            <a:off x="851994" y="634799"/>
            <a:ext cx="201689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000" b="1" spc="300" dirty="0">
                <a:solidFill>
                  <a:sysClr val="windowText" lastClr="000000"/>
                </a:solidFill>
                <a:latin typeface="Toppan Bunkyu Midashi Gothic Ex" panose="020B0900000000000000" pitchFamily="34" charset="-128"/>
                <a:ea typeface="Toppan Bunkyu Midashi Gothic Ex" panose="020B0900000000000000" pitchFamily="34" charset="-128"/>
              </a:rPr>
              <a:t>INDEX</a:t>
            </a:r>
            <a:endParaRPr kumimoji="1" lang="ja-JP" altLang="en-US" sz="2000" b="1" spc="300">
              <a:solidFill>
                <a:sysClr val="windowText" lastClr="000000"/>
              </a:solidFill>
              <a:latin typeface="Toppan Bunkyu Midashi Gothic Ex" panose="020B0900000000000000" pitchFamily="34" charset="-128"/>
              <a:ea typeface="Toppan Bunkyu Midashi Gothic Ex" panose="020B0900000000000000" pitchFamily="34" charset="-128"/>
            </a:endParaRPr>
          </a:p>
        </p:txBody>
      </p:sp>
      <p:sp>
        <p:nvSpPr>
          <p:cNvPr id="24" name="直角三角形 23">
            <a:extLst>
              <a:ext uri="{FF2B5EF4-FFF2-40B4-BE49-F238E27FC236}">
                <a16:creationId xmlns:a16="http://schemas.microsoft.com/office/drawing/2014/main" id="{71E07B1D-5377-6A98-ACED-D4015091B092}"/>
              </a:ext>
            </a:extLst>
          </p:cNvPr>
          <p:cNvSpPr/>
          <p:nvPr/>
        </p:nvSpPr>
        <p:spPr>
          <a:xfrm rot="13500000">
            <a:off x="315671" y="844741"/>
            <a:ext cx="288000" cy="288000"/>
          </a:xfrm>
          <a:prstGeom prst="rtTriangle">
            <a:avLst/>
          </a:prstGeom>
          <a:solidFill>
            <a:srgbClr val="F3C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6AF404FC-BD5E-69D4-B837-E612F79BED71}"/>
              </a:ext>
            </a:extLst>
          </p:cNvPr>
          <p:cNvSpPr txBox="1"/>
          <p:nvPr/>
        </p:nvSpPr>
        <p:spPr>
          <a:xfrm>
            <a:off x="882474" y="1894280"/>
            <a:ext cx="33137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000" b="1" spc="300" dirty="0">
                <a:solidFill>
                  <a:sysClr val="windowText" lastClr="000000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01 </a:t>
            </a:r>
            <a:r>
              <a:rPr kumimoji="1" lang="ja-JP" altLang="en-US" sz="4000" b="1" spc="300">
                <a:solidFill>
                  <a:sysClr val="windowText" lastClr="000000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開発背景</a:t>
            </a:r>
            <a:endParaRPr kumimoji="1" lang="ja-JP" altLang="en-US" sz="2000" b="1" spc="300">
              <a:solidFill>
                <a:sysClr val="windowText" lastClr="000000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7E5DD4DC-BA7C-9CCE-6A03-2061C989A847}"/>
              </a:ext>
            </a:extLst>
          </p:cNvPr>
          <p:cNvSpPr txBox="1"/>
          <p:nvPr/>
        </p:nvSpPr>
        <p:spPr>
          <a:xfrm>
            <a:off x="851994" y="2702453"/>
            <a:ext cx="5397631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000" b="1" spc="300" dirty="0">
                <a:solidFill>
                  <a:sysClr val="windowText" lastClr="000000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02 </a:t>
            </a:r>
            <a:r>
              <a:rPr lang="ja-JP" altLang="en-US" sz="4000" b="1" spc="300">
                <a:solidFill>
                  <a:sysClr val="windowText" lastClr="000000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既存アプリの</a:t>
            </a:r>
            <a:endParaRPr lang="en-US" altLang="ja-JP" sz="4000" b="1" spc="300" dirty="0">
              <a:solidFill>
                <a:sysClr val="windowText" lastClr="000000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  <a:p>
            <a:r>
              <a:rPr lang="en-US" altLang="ja-JP" sz="4000" b="1" spc="300" dirty="0">
                <a:solidFill>
                  <a:sysClr val="windowText" lastClr="000000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		</a:t>
            </a:r>
            <a:r>
              <a:rPr lang="ja-JP" altLang="en-US" sz="4000" b="1" spc="300">
                <a:solidFill>
                  <a:sysClr val="windowText" lastClr="000000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調査と差別化</a:t>
            </a:r>
            <a:endParaRPr lang="en-US" altLang="ja-JP" sz="4000" b="1" spc="300" dirty="0">
              <a:solidFill>
                <a:sysClr val="windowText" lastClr="000000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34C9CD96-5D0E-8633-478F-577420A9E7B6}"/>
              </a:ext>
            </a:extLst>
          </p:cNvPr>
          <p:cNvSpPr txBox="1"/>
          <p:nvPr/>
        </p:nvSpPr>
        <p:spPr>
          <a:xfrm>
            <a:off x="851994" y="4025892"/>
            <a:ext cx="33137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000" b="1" spc="300" dirty="0">
                <a:solidFill>
                  <a:sysClr val="windowText" lastClr="000000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03 </a:t>
            </a:r>
            <a:r>
              <a:rPr lang="ja-JP" altLang="en-US" sz="4000" b="1" spc="300">
                <a:solidFill>
                  <a:sysClr val="windowText" lastClr="000000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機能一覧</a:t>
            </a:r>
            <a:endParaRPr kumimoji="1" lang="ja-JP" altLang="en-US" sz="2000" b="1" spc="300">
              <a:solidFill>
                <a:sysClr val="windowText" lastClr="000000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5D8D260C-93C1-B011-E98B-4A39AA95D50B}"/>
              </a:ext>
            </a:extLst>
          </p:cNvPr>
          <p:cNvSpPr txBox="1"/>
          <p:nvPr/>
        </p:nvSpPr>
        <p:spPr>
          <a:xfrm>
            <a:off x="851994" y="4884756"/>
            <a:ext cx="4435830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000" b="1" spc="300" dirty="0">
                <a:solidFill>
                  <a:sysClr val="windowText" lastClr="000000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04 </a:t>
            </a:r>
            <a:r>
              <a:rPr kumimoji="1" lang="ja-JP" altLang="en-US" sz="4000" b="1" spc="300">
                <a:solidFill>
                  <a:sysClr val="windowText" lastClr="000000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技術スタック</a:t>
            </a:r>
            <a:endParaRPr kumimoji="1" lang="ja-JP" altLang="en-US" sz="2000" b="1" spc="300">
              <a:solidFill>
                <a:sysClr val="windowText" lastClr="000000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29" name="テキスト ボックス 28">
            <a:extLst>
              <a:ext uri="{FF2B5EF4-FFF2-40B4-BE49-F238E27FC236}">
                <a16:creationId xmlns:a16="http://schemas.microsoft.com/office/drawing/2014/main" id="{B634439D-E849-E7B7-E460-BE630C8B34A3}"/>
              </a:ext>
            </a:extLst>
          </p:cNvPr>
          <p:cNvSpPr txBox="1"/>
          <p:nvPr/>
        </p:nvSpPr>
        <p:spPr>
          <a:xfrm>
            <a:off x="851994" y="5703274"/>
            <a:ext cx="3313728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4000" b="1" spc="300" dirty="0">
                <a:solidFill>
                  <a:sysClr val="windowText" lastClr="000000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05 </a:t>
            </a:r>
            <a:r>
              <a:rPr lang="ja-JP" altLang="en-US" sz="4000" b="1" spc="300">
                <a:solidFill>
                  <a:sysClr val="windowText" lastClr="000000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設計思想</a:t>
            </a:r>
            <a:endParaRPr kumimoji="1" lang="ja-JP" altLang="en-US" sz="2000" b="1" spc="300">
              <a:solidFill>
                <a:sysClr val="windowText" lastClr="000000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grpSp>
        <p:nvGrpSpPr>
          <p:cNvPr id="30" name="グループ化 29">
            <a:extLst>
              <a:ext uri="{FF2B5EF4-FFF2-40B4-BE49-F238E27FC236}">
                <a16:creationId xmlns:a16="http://schemas.microsoft.com/office/drawing/2014/main" id="{2F64F36A-E24C-6428-31CF-8D02C766A20E}"/>
              </a:ext>
            </a:extLst>
          </p:cNvPr>
          <p:cNvGrpSpPr/>
          <p:nvPr/>
        </p:nvGrpSpPr>
        <p:grpSpPr>
          <a:xfrm>
            <a:off x="6982896" y="637096"/>
            <a:ext cx="5178154" cy="1200329"/>
            <a:chOff x="4414295" y="2497975"/>
            <a:chExt cx="7777705" cy="1815419"/>
          </a:xfrm>
        </p:grpSpPr>
        <p:pic>
          <p:nvPicPr>
            <p:cNvPr id="31" name="図 30" descr="ロゴ  自動的に生成された説明">
              <a:extLst>
                <a:ext uri="{FF2B5EF4-FFF2-40B4-BE49-F238E27FC236}">
                  <a16:creationId xmlns:a16="http://schemas.microsoft.com/office/drawing/2014/main" id="{1EED80A6-D8D6-443E-6FAB-23BA2091BA96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2323" t="12390" r="12451" b="10715"/>
            <a:stretch/>
          </p:blipFill>
          <p:spPr>
            <a:xfrm>
              <a:off x="4414295" y="2549224"/>
              <a:ext cx="1721370" cy="1759550"/>
            </a:xfrm>
            <a:prstGeom prst="rect">
              <a:avLst/>
            </a:prstGeom>
            <a:effectLst>
              <a:glow rad="12700">
                <a:schemeClr val="bg1">
                  <a:alpha val="95000"/>
                </a:schemeClr>
              </a:glow>
            </a:effectLst>
          </p:spPr>
        </p:pic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EC2490D3-04CC-4F89-7175-10C4F0579520}"/>
                </a:ext>
              </a:extLst>
            </p:cNvPr>
            <p:cNvSpPr txBox="1"/>
            <p:nvPr/>
          </p:nvSpPr>
          <p:spPr>
            <a:xfrm>
              <a:off x="6135666" y="2497975"/>
              <a:ext cx="6056334" cy="181541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7200">
                  <a:latin typeface="Reggae One" pitchFamily="2" charset="-128"/>
                  <a:ea typeface="Reggae One" pitchFamily="2" charset="-128"/>
                </a:rPr>
                <a:t>同人＋＋</a:t>
              </a:r>
            </a:p>
          </p:txBody>
        </p:sp>
      </p:grpSp>
      <p:grpSp>
        <p:nvGrpSpPr>
          <p:cNvPr id="33" name="グループ化 32">
            <a:extLst>
              <a:ext uri="{FF2B5EF4-FFF2-40B4-BE49-F238E27FC236}">
                <a16:creationId xmlns:a16="http://schemas.microsoft.com/office/drawing/2014/main" id="{BCA61E5C-6FDD-CB56-3A29-4E90FE756F2D}"/>
              </a:ext>
            </a:extLst>
          </p:cNvPr>
          <p:cNvGrpSpPr/>
          <p:nvPr/>
        </p:nvGrpSpPr>
        <p:grpSpPr>
          <a:xfrm>
            <a:off x="6514345" y="2301240"/>
            <a:ext cx="2004815" cy="3605779"/>
            <a:chOff x="757204" y="410554"/>
            <a:chExt cx="2966145" cy="5971576"/>
          </a:xfrm>
          <a:effectLst>
            <a:outerShdw dist="91524" dir="5400000" sx="99000" sy="99000" algn="t" rotWithShape="0">
              <a:prstClr val="black">
                <a:alpha val="30063"/>
              </a:prstClr>
            </a:outerShdw>
          </a:effectLst>
        </p:grpSpPr>
        <p:sp>
          <p:nvSpPr>
            <p:cNvPr id="34" name="テキスト ボックス 33">
              <a:extLst>
                <a:ext uri="{FF2B5EF4-FFF2-40B4-BE49-F238E27FC236}">
                  <a16:creationId xmlns:a16="http://schemas.microsoft.com/office/drawing/2014/main" id="{CD043918-1ED0-F2FF-29D6-F44D37592BBA}"/>
                </a:ext>
              </a:extLst>
            </p:cNvPr>
            <p:cNvSpPr txBox="1"/>
            <p:nvPr/>
          </p:nvSpPr>
          <p:spPr>
            <a:xfrm>
              <a:off x="2698230" y="629587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kumimoji="1" lang="ja-JP" altLang="en-US"/>
            </a:p>
          </p:txBody>
        </p:sp>
        <p:pic>
          <p:nvPicPr>
            <p:cNvPr id="35" name="図 34" descr="携帯電話の画面のスクリーンショット  自動的に生成された説明">
              <a:extLst>
                <a:ext uri="{FF2B5EF4-FFF2-40B4-BE49-F238E27FC236}">
                  <a16:creationId xmlns:a16="http://schemas.microsoft.com/office/drawing/2014/main" id="{546A57FD-1E35-C20F-2B04-294CC18B613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808"/>
            <a:stretch>
              <a:fillRect/>
            </a:stretch>
          </p:blipFill>
          <p:spPr>
            <a:xfrm>
              <a:off x="915892" y="557819"/>
              <a:ext cx="2660427" cy="5710901"/>
            </a:xfrm>
            <a:custGeom>
              <a:avLst/>
              <a:gdLst>
                <a:gd name="connsiteX0" fmla="*/ 430997 w 2626994"/>
                <a:gd name="connsiteY0" fmla="*/ 0 h 5639133"/>
                <a:gd name="connsiteX1" fmla="*/ 2187784 w 2626994"/>
                <a:gd name="connsiteY1" fmla="*/ 0 h 5639133"/>
                <a:gd name="connsiteX2" fmla="*/ 2626994 w 2626994"/>
                <a:gd name="connsiteY2" fmla="*/ 439210 h 5639133"/>
                <a:gd name="connsiteX3" fmla="*/ 2626994 w 2626994"/>
                <a:gd name="connsiteY3" fmla="*/ 5199923 h 5639133"/>
                <a:gd name="connsiteX4" fmla="*/ 2187784 w 2626994"/>
                <a:gd name="connsiteY4" fmla="*/ 5639133 h 5639133"/>
                <a:gd name="connsiteX5" fmla="*/ 430997 w 2626994"/>
                <a:gd name="connsiteY5" fmla="*/ 5639133 h 5639133"/>
                <a:gd name="connsiteX6" fmla="*/ 710 w 2626994"/>
                <a:gd name="connsiteY6" fmla="*/ 5288439 h 5639133"/>
                <a:gd name="connsiteX7" fmla="*/ 0 w 2626994"/>
                <a:gd name="connsiteY7" fmla="*/ 5281394 h 5639133"/>
                <a:gd name="connsiteX8" fmla="*/ 0 w 2626994"/>
                <a:gd name="connsiteY8" fmla="*/ 357739 h 5639133"/>
                <a:gd name="connsiteX9" fmla="*/ 710 w 2626994"/>
                <a:gd name="connsiteY9" fmla="*/ 350694 h 5639133"/>
                <a:gd name="connsiteX10" fmla="*/ 430997 w 2626994"/>
                <a:gd name="connsiteY10" fmla="*/ 0 h 5639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626994" h="5639133">
                  <a:moveTo>
                    <a:pt x="430997" y="0"/>
                  </a:moveTo>
                  <a:lnTo>
                    <a:pt x="2187784" y="0"/>
                  </a:lnTo>
                  <a:cubicBezTo>
                    <a:pt x="2430353" y="0"/>
                    <a:pt x="2626994" y="196641"/>
                    <a:pt x="2626994" y="439210"/>
                  </a:cubicBezTo>
                  <a:lnTo>
                    <a:pt x="2626994" y="5199923"/>
                  </a:lnTo>
                  <a:cubicBezTo>
                    <a:pt x="2626994" y="5442492"/>
                    <a:pt x="2430353" y="5639133"/>
                    <a:pt x="2187784" y="5639133"/>
                  </a:cubicBezTo>
                  <a:lnTo>
                    <a:pt x="430997" y="5639133"/>
                  </a:lnTo>
                  <a:cubicBezTo>
                    <a:pt x="218749" y="5639133"/>
                    <a:pt x="41665" y="5488580"/>
                    <a:pt x="710" y="5288439"/>
                  </a:cubicBezTo>
                  <a:lnTo>
                    <a:pt x="0" y="5281394"/>
                  </a:lnTo>
                  <a:lnTo>
                    <a:pt x="0" y="357739"/>
                  </a:lnTo>
                  <a:lnTo>
                    <a:pt x="710" y="350694"/>
                  </a:lnTo>
                  <a:cubicBezTo>
                    <a:pt x="41665" y="150553"/>
                    <a:pt x="218749" y="0"/>
                    <a:pt x="430997" y="0"/>
                  </a:cubicBezTo>
                  <a:close/>
                </a:path>
              </a:pathLst>
            </a:custGeom>
          </p:spPr>
        </p:pic>
        <p:pic>
          <p:nvPicPr>
            <p:cNvPr id="36" name="図 35" descr="グラフィカル ユーザー インターフェイス, アプリケーション  自動的に生成された説明">
              <a:extLst>
                <a:ext uri="{FF2B5EF4-FFF2-40B4-BE49-F238E27FC236}">
                  <a16:creationId xmlns:a16="http://schemas.microsoft.com/office/drawing/2014/main" id="{179D9D2E-AA14-EA01-3C57-7FD0176B8B6A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57204" y="410554"/>
              <a:ext cx="2966145" cy="5971576"/>
            </a:xfrm>
            <a:prstGeom prst="rect">
              <a:avLst/>
            </a:prstGeom>
          </p:spPr>
        </p:pic>
      </p:grpSp>
      <p:grpSp>
        <p:nvGrpSpPr>
          <p:cNvPr id="44" name="グループ化 43">
            <a:extLst>
              <a:ext uri="{FF2B5EF4-FFF2-40B4-BE49-F238E27FC236}">
                <a16:creationId xmlns:a16="http://schemas.microsoft.com/office/drawing/2014/main" id="{084CA859-29B6-B98E-D85A-8E34F36BFA86}"/>
              </a:ext>
            </a:extLst>
          </p:cNvPr>
          <p:cNvGrpSpPr/>
          <p:nvPr/>
        </p:nvGrpSpPr>
        <p:grpSpPr>
          <a:xfrm>
            <a:off x="7211426" y="3258446"/>
            <a:ext cx="4949624" cy="3025987"/>
            <a:chOff x="8699065" y="4585786"/>
            <a:chExt cx="3470069" cy="2014417"/>
          </a:xfrm>
        </p:grpSpPr>
        <p:pic>
          <p:nvPicPr>
            <p:cNvPr id="43" name="図 42" descr="グラフィカル ユーザー インターフェイス, カレンダー  中程度の精度で自動的に生成された説明">
              <a:extLst>
                <a:ext uri="{FF2B5EF4-FFF2-40B4-BE49-F238E27FC236}">
                  <a16:creationId xmlns:a16="http://schemas.microsoft.com/office/drawing/2014/main" id="{72346DA3-A00F-0C46-6C80-A5A972A52AB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r="117"/>
            <a:stretch>
              <a:fillRect/>
            </a:stretch>
          </p:blipFill>
          <p:spPr>
            <a:xfrm>
              <a:off x="9070405" y="4624552"/>
              <a:ext cx="2730751" cy="1741391"/>
            </a:xfrm>
            <a:custGeom>
              <a:avLst/>
              <a:gdLst>
                <a:gd name="connsiteX0" fmla="*/ 23106 w 2730751"/>
                <a:gd name="connsiteY0" fmla="*/ 0 h 1716619"/>
                <a:gd name="connsiteX1" fmla="*/ 2707645 w 2730751"/>
                <a:gd name="connsiteY1" fmla="*/ 0 h 1716619"/>
                <a:gd name="connsiteX2" fmla="*/ 2730751 w 2730751"/>
                <a:gd name="connsiteY2" fmla="*/ 23106 h 1716619"/>
                <a:gd name="connsiteX3" fmla="*/ 2730751 w 2730751"/>
                <a:gd name="connsiteY3" fmla="*/ 1693513 h 1716619"/>
                <a:gd name="connsiteX4" fmla="*/ 2707645 w 2730751"/>
                <a:gd name="connsiteY4" fmla="*/ 1716619 h 1716619"/>
                <a:gd name="connsiteX5" fmla="*/ 23106 w 2730751"/>
                <a:gd name="connsiteY5" fmla="*/ 1716619 h 1716619"/>
                <a:gd name="connsiteX6" fmla="*/ 0 w 2730751"/>
                <a:gd name="connsiteY6" fmla="*/ 1693513 h 1716619"/>
                <a:gd name="connsiteX7" fmla="*/ 0 w 2730751"/>
                <a:gd name="connsiteY7" fmla="*/ 23106 h 1716619"/>
                <a:gd name="connsiteX8" fmla="*/ 23106 w 2730751"/>
                <a:gd name="connsiteY8" fmla="*/ 0 h 171661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730751" h="1716619">
                  <a:moveTo>
                    <a:pt x="23106" y="0"/>
                  </a:moveTo>
                  <a:lnTo>
                    <a:pt x="2707645" y="0"/>
                  </a:lnTo>
                  <a:cubicBezTo>
                    <a:pt x="2720406" y="0"/>
                    <a:pt x="2730751" y="10345"/>
                    <a:pt x="2730751" y="23106"/>
                  </a:cubicBezTo>
                  <a:lnTo>
                    <a:pt x="2730751" y="1693513"/>
                  </a:lnTo>
                  <a:cubicBezTo>
                    <a:pt x="2730751" y="1706274"/>
                    <a:pt x="2720406" y="1716619"/>
                    <a:pt x="2707645" y="1716619"/>
                  </a:cubicBezTo>
                  <a:lnTo>
                    <a:pt x="23106" y="1716619"/>
                  </a:lnTo>
                  <a:cubicBezTo>
                    <a:pt x="10345" y="1716619"/>
                    <a:pt x="0" y="1706274"/>
                    <a:pt x="0" y="1693513"/>
                  </a:cubicBezTo>
                  <a:lnTo>
                    <a:pt x="0" y="23106"/>
                  </a:lnTo>
                  <a:cubicBezTo>
                    <a:pt x="0" y="10345"/>
                    <a:pt x="10345" y="0"/>
                    <a:pt x="23106" y="0"/>
                  </a:cubicBezTo>
                  <a:close/>
                </a:path>
              </a:pathLst>
            </a:custGeom>
          </p:spPr>
        </p:pic>
        <p:pic>
          <p:nvPicPr>
            <p:cNvPr id="38" name="図 37" descr="コンピューターの画面  自動的に生成された説明">
              <a:extLst>
                <a:ext uri="{FF2B5EF4-FFF2-40B4-BE49-F238E27FC236}">
                  <a16:creationId xmlns:a16="http://schemas.microsoft.com/office/drawing/2014/main" id="{E5B17326-550B-3E21-B2BA-6DD2CD1AC7B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8699065" y="4585786"/>
              <a:ext cx="3470069" cy="201441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7203048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03BD6076-174F-B314-7114-457F5AFB50B2}"/>
              </a:ext>
            </a:extLst>
          </p:cNvPr>
          <p:cNvSpPr/>
          <p:nvPr/>
        </p:nvSpPr>
        <p:spPr>
          <a:xfrm>
            <a:off x="0" y="0"/>
            <a:ext cx="9235440" cy="6858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A45EBDC-326E-2B0B-88C0-094F592629DC}"/>
              </a:ext>
            </a:extLst>
          </p:cNvPr>
          <p:cNvSpPr txBox="1"/>
          <p:nvPr/>
        </p:nvSpPr>
        <p:spPr>
          <a:xfrm>
            <a:off x="1243238" y="2705725"/>
            <a:ext cx="6748963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8800" b="1" spc="300" dirty="0">
                <a:solidFill>
                  <a:schemeClr val="bg1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01</a:t>
            </a:r>
            <a:r>
              <a:rPr kumimoji="1" lang="ja-JP" altLang="en-US" sz="8800" b="1" spc="300">
                <a:solidFill>
                  <a:schemeClr val="bg1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 開発背景</a:t>
            </a:r>
            <a:endParaRPr kumimoji="1" lang="ja-JP" altLang="en-US" sz="5400" b="1" spc="300">
              <a:solidFill>
                <a:schemeClr val="bg1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0744563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1" name="topbar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2" name="lstrip"/>
          <p:cNvSpPr/>
          <p:nvPr/>
        </p:nvSpPr>
        <p:spPr>
          <a:xfrm>
            <a:off x="0" y="1143000"/>
            <a:ext cx="18000" cy="5715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3" name="section_lbl"/>
          <p:cNvSpPr txBox="1"/>
          <p:nvPr/>
        </p:nvSpPr>
        <p:spPr>
          <a:xfrm>
            <a:off x="10692000" y="80000"/>
            <a:ext cx="1400000" cy="3077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r"/>
            <a:r>
              <a:rPr lang="ja-JP" altLang="en-US" sz="1400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Section 01</a:t>
            </a:r>
          </a:p>
        </p:txBody>
      </p:sp>
      <p:sp>
        <p:nvSpPr>
          <p:cNvPr id="14" name="title_txt"/>
          <p:cNvSpPr txBox="1"/>
          <p:nvPr/>
        </p:nvSpPr>
        <p:spPr>
          <a:xfrm>
            <a:off x="457200" y="248334"/>
            <a:ext cx="9777600" cy="64633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ja-JP" altLang="en-US" sz="3600" b="1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即売会当日</a:t>
            </a:r>
            <a:r>
              <a:rPr lang="ja-JP" altLang="en-US" sz="36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フロー  現在の課題</a:t>
            </a:r>
            <a:endParaRPr lang="ja-JP" altLang="en-US" sz="3600" b="1" dirty="0">
              <a:solidFill>
                <a:srgbClr val="1A1A1A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20" name="step0"/>
          <p:cNvSpPr/>
          <p:nvPr/>
        </p:nvSpPr>
        <p:spPr>
          <a:xfrm>
            <a:off x="457200" y="2205377"/>
            <a:ext cx="2000000" cy="1600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600" b="1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①
公式サイトから
紙の</a:t>
            </a:r>
            <a:r>
              <a:rPr lang="ja-JP" altLang="en-US" sz="16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マップを</a:t>
            </a:r>
            <a:endParaRPr lang="en-US" altLang="ja-JP" sz="1600" b="1" dirty="0">
              <a:solidFill>
                <a:srgbClr val="1A1A1A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  <a:p>
            <a:pPr algn="ctr"/>
            <a:r>
              <a:rPr lang="ja-JP" altLang="en-US" sz="16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DL</a:t>
            </a:r>
            <a:r>
              <a:rPr lang="ja-JP" altLang="en-US" sz="1600" b="1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・印刷</a:t>
            </a:r>
          </a:p>
        </p:txBody>
      </p:sp>
      <p:sp>
        <p:nvSpPr>
          <p:cNvPr id="21" name="arr0"/>
          <p:cNvSpPr/>
          <p:nvPr/>
        </p:nvSpPr>
        <p:spPr>
          <a:xfrm>
            <a:off x="2516900" y="2945377"/>
            <a:ext cx="200000" cy="120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22" name="step1"/>
          <p:cNvSpPr/>
          <p:nvPr/>
        </p:nvSpPr>
        <p:spPr>
          <a:xfrm>
            <a:off x="2776600" y="2205377"/>
            <a:ext cx="2000000" cy="160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6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②
</a:t>
            </a:r>
            <a:r>
              <a:rPr lang="ja-JP" altLang="en-US" sz="1600" b="1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行</a:t>
            </a:r>
            <a:r>
              <a:rPr lang="ja-JP" altLang="en-US" sz="1400" b="1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きたい</a:t>
            </a:r>
            <a:r>
              <a:rPr lang="ja-JP" altLang="en-US" sz="1600" b="1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サークルに</a:t>
            </a:r>
            <a:r>
              <a:rPr lang="ja-JP" altLang="en-US" sz="16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
手書きでマーカー</a:t>
            </a:r>
          </a:p>
        </p:txBody>
      </p:sp>
      <p:sp>
        <p:nvSpPr>
          <p:cNvPr id="23" name="arr1"/>
          <p:cNvSpPr/>
          <p:nvPr/>
        </p:nvSpPr>
        <p:spPr>
          <a:xfrm>
            <a:off x="4836300" y="2945377"/>
            <a:ext cx="200000" cy="120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24" name="step2"/>
          <p:cNvSpPr/>
          <p:nvPr/>
        </p:nvSpPr>
        <p:spPr>
          <a:xfrm>
            <a:off x="5096000" y="2205377"/>
            <a:ext cx="2000000" cy="1600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600" b="1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③
前日にスプレッドシートで
購入リストを整理</a:t>
            </a:r>
          </a:p>
        </p:txBody>
      </p:sp>
      <p:sp>
        <p:nvSpPr>
          <p:cNvPr id="25" name="arr2"/>
          <p:cNvSpPr/>
          <p:nvPr/>
        </p:nvSpPr>
        <p:spPr>
          <a:xfrm>
            <a:off x="7155700" y="2945377"/>
            <a:ext cx="200000" cy="120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26" name="step3"/>
          <p:cNvSpPr/>
          <p:nvPr/>
        </p:nvSpPr>
        <p:spPr>
          <a:xfrm>
            <a:off x="7415400" y="2205377"/>
            <a:ext cx="2000000" cy="160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6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④
当日、紙とスマホを
両手に会場を歩き回る</a:t>
            </a:r>
          </a:p>
        </p:txBody>
      </p:sp>
      <p:sp>
        <p:nvSpPr>
          <p:cNvPr id="27" name="arr3"/>
          <p:cNvSpPr/>
          <p:nvPr/>
        </p:nvSpPr>
        <p:spPr>
          <a:xfrm>
            <a:off x="9475100" y="2945377"/>
            <a:ext cx="200000" cy="120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28" name="step4"/>
          <p:cNvSpPr/>
          <p:nvPr/>
        </p:nvSpPr>
        <p:spPr>
          <a:xfrm>
            <a:off x="9734800" y="2205377"/>
            <a:ext cx="2000000" cy="1600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600" b="1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⑤</a:t>
            </a:r>
            <a:r>
              <a:rPr lang="ja-JP" altLang="en-US" sz="16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
立ち寄った</a:t>
            </a:r>
            <a:endParaRPr lang="en-US" altLang="ja-JP" sz="1600" b="1" dirty="0">
              <a:solidFill>
                <a:srgbClr val="1A1A1A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  <a:p>
            <a:pPr algn="ctr"/>
            <a:r>
              <a:rPr lang="ja-JP" altLang="en-US" sz="16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サークル</a:t>
            </a:r>
            <a:r>
              <a:rPr lang="ja-JP" altLang="en-US" sz="1600" b="1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に
手書きチェック</a:t>
            </a:r>
          </a:p>
        </p:txBody>
      </p:sp>
      <p:sp>
        <p:nvSpPr>
          <p:cNvPr id="40" name="but_txt"/>
          <p:cNvSpPr txBox="1"/>
          <p:nvPr/>
        </p:nvSpPr>
        <p:spPr>
          <a:xfrm>
            <a:off x="156801" y="4490415"/>
            <a:ext cx="11277600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ja-JP" altLang="en-US" sz="3200" b="1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混沌と化した会場でペンと紙を出してメモメモ</a:t>
            </a:r>
            <a:r>
              <a:rPr lang="en-US" altLang="ja-JP" sz="3200" b="1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...</a:t>
            </a:r>
            <a:r>
              <a:rPr lang="ja-JP" altLang="en-US" sz="3200" b="1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出来るか</a:t>
            </a:r>
            <a:r>
              <a:rPr lang="en-US" altLang="ja-JP" sz="3200" b="1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?</a:t>
            </a:r>
            <a:endParaRPr lang="ja-JP" altLang="en-US" sz="3200" b="1" dirty="0">
              <a:solidFill>
                <a:srgbClr val="2D2D2D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50" name="prob0"/>
          <p:cNvSpPr/>
          <p:nvPr/>
        </p:nvSpPr>
        <p:spPr>
          <a:xfrm>
            <a:off x="457200" y="5724798"/>
            <a:ext cx="3700000" cy="70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500" b="1" dirty="0">
                <a:solidFill>
                  <a:srgbClr val="C62828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❌ 「買えた？売り切れ？」判別不能</a:t>
            </a:r>
          </a:p>
        </p:txBody>
      </p:sp>
      <p:sp>
        <p:nvSpPr>
          <p:cNvPr id="51" name="prob1"/>
          <p:cNvSpPr/>
          <p:nvPr/>
        </p:nvSpPr>
        <p:spPr>
          <a:xfrm>
            <a:off x="4357200" y="5724798"/>
            <a:ext cx="3700000" cy="70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500" b="1" dirty="0">
                <a:solidFill>
                  <a:srgbClr val="C62828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❌ 支出がリアルタイムで分からない</a:t>
            </a:r>
          </a:p>
        </p:txBody>
      </p:sp>
      <p:sp>
        <p:nvSpPr>
          <p:cNvPr id="52" name="prob2"/>
          <p:cNvSpPr/>
          <p:nvPr/>
        </p:nvSpPr>
        <p:spPr>
          <a:xfrm>
            <a:off x="8257200" y="5724798"/>
            <a:ext cx="3700000" cy="70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500" b="1" dirty="0">
                <a:solidFill>
                  <a:srgbClr val="C62828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❌ 次の目的地まで地図を読む手間</a:t>
            </a:r>
          </a:p>
        </p:txBody>
      </p:sp>
      <p:pic>
        <p:nvPicPr>
          <p:cNvPr id="2" name="図 1" descr="図形&#10;&#10;中程度の精度で自動的に生成された説明">
            <a:extLst>
              <a:ext uri="{FF2B5EF4-FFF2-40B4-BE49-F238E27FC236}">
                <a16:creationId xmlns:a16="http://schemas.microsoft.com/office/drawing/2014/main" id="{1927CD68-5C13-557E-91E1-5C7F951F7F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 rot="767026">
            <a:off x="11215659" y="4823648"/>
            <a:ext cx="951268" cy="761014"/>
          </a:xfrm>
          <a:prstGeom prst="rect">
            <a:avLst/>
          </a:prstGeom>
        </p:spPr>
      </p:pic>
      <p:pic>
        <p:nvPicPr>
          <p:cNvPr id="3" name="図 2" descr="図形&#10;&#10;中程度の精度で自動的に生成された説明">
            <a:extLst>
              <a:ext uri="{FF2B5EF4-FFF2-40B4-BE49-F238E27FC236}">
                <a16:creationId xmlns:a16="http://schemas.microsoft.com/office/drawing/2014/main" id="{F3348717-0C24-07D7-53DA-E292176468DB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prstClr val="black"/>
              <a:srgbClr val="F3CA00">
                <a:tint val="45000"/>
                <a:satMod val="400000"/>
              </a:srgbClr>
            </a:duotone>
          </a:blip>
          <a:stretch>
            <a:fillRect/>
          </a:stretch>
        </p:blipFill>
        <p:spPr>
          <a:xfrm>
            <a:off x="1979195" y="1222219"/>
            <a:ext cx="1335851" cy="1127701"/>
          </a:xfrm>
          <a:prstGeom prst="rect">
            <a:avLst/>
          </a:prstGeom>
          <a:noFill/>
        </p:spPr>
      </p:pic>
      <p:pic>
        <p:nvPicPr>
          <p:cNvPr id="7" name="図 6" descr="黒い背景と白い文字&#10;&#10;自動的に生成された説明">
            <a:extLst>
              <a:ext uri="{FF2B5EF4-FFF2-40B4-BE49-F238E27FC236}">
                <a16:creationId xmlns:a16="http://schemas.microsoft.com/office/drawing/2014/main" id="{09B69020-17F6-692D-31A4-34A5949E2A5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273247" y="1344373"/>
            <a:ext cx="994962" cy="1005547"/>
          </a:xfrm>
          <a:prstGeom prst="rect">
            <a:avLst/>
          </a:prstGeom>
        </p:spPr>
      </p:pic>
      <p:pic>
        <p:nvPicPr>
          <p:cNvPr id="8" name="図 7" descr="図形&#10;&#10;中程度の精度で自動的に生成された説明">
            <a:extLst>
              <a:ext uri="{FF2B5EF4-FFF2-40B4-BE49-F238E27FC236}">
                <a16:creationId xmlns:a16="http://schemas.microsoft.com/office/drawing/2014/main" id="{91CDC708-51EC-9977-31A3-EA60F5C137D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94903" y="1165089"/>
            <a:ext cx="1184389" cy="1180219"/>
          </a:xfrm>
          <a:prstGeom prst="rect">
            <a:avLst/>
          </a:prstGeom>
        </p:spPr>
      </p:pic>
      <p:pic>
        <p:nvPicPr>
          <p:cNvPr id="9" name="図 8" descr="図形&#10;&#10;低い精度で自動的に生成された説明">
            <a:extLst>
              <a:ext uri="{FF2B5EF4-FFF2-40B4-BE49-F238E27FC236}">
                <a16:creationId xmlns:a16="http://schemas.microsoft.com/office/drawing/2014/main" id="{27D42F9B-F136-363C-FEF3-53F1414484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01524" y="1222219"/>
            <a:ext cx="861225" cy="1212095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1" name="topbar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lstrip"/>
          <p:cNvSpPr/>
          <p:nvPr/>
        </p:nvSpPr>
        <p:spPr>
          <a:xfrm>
            <a:off x="0" y="1143000"/>
            <a:ext cx="18000" cy="5715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" name="section_lbl"/>
          <p:cNvSpPr txBox="1"/>
          <p:nvPr/>
        </p:nvSpPr>
        <p:spPr>
          <a:xfrm>
            <a:off x="10692000" y="80000"/>
            <a:ext cx="1400000" cy="5000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r"/>
            <a:r>
              <a:rPr lang="ja-JP" altLang="en-US" sz="1400" dirty="0">
                <a:solidFill>
                  <a:srgbClr val="1A1A1A"/>
                </a:solidFill>
                <a:latin typeface="Meiryo"/>
                <a:ea typeface="Meiryo"/>
              </a:rPr>
              <a:t>Section 01</a:t>
            </a:r>
          </a:p>
        </p:txBody>
      </p:sp>
      <p:sp>
        <p:nvSpPr>
          <p:cNvPr id="14" name="title_txt"/>
          <p:cNvSpPr txBox="1"/>
          <p:nvPr/>
        </p:nvSpPr>
        <p:spPr>
          <a:xfrm>
            <a:off x="457200" y="120000"/>
            <a:ext cx="9777600" cy="9000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ja-JP" altLang="en-US" sz="3600" b="1" dirty="0">
                <a:solidFill>
                  <a:srgbClr val="1A1A1A"/>
                </a:solidFill>
                <a:latin typeface="Meiryo"/>
                <a:ea typeface="Meiryo"/>
              </a:rPr>
              <a:t>紙・スプレッドシートの限界</a:t>
            </a:r>
          </a:p>
        </p:txBody>
      </p:sp>
      <p:sp>
        <p:nvSpPr>
          <p:cNvPr id="20" name="cell00"/>
          <p:cNvSpPr/>
          <p:nvPr/>
        </p:nvSpPr>
        <p:spPr>
          <a:xfrm>
            <a:off x="457200" y="1450000"/>
            <a:ext cx="3800000" cy="76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600" b="1" dirty="0">
                <a:solidFill>
                  <a:srgbClr val="FFFFFF"/>
                </a:solidFill>
                <a:latin typeface="Meiryo"/>
                <a:ea typeface="Meiryo"/>
              </a:rPr>
              <a:t>知りたいこと</a:t>
            </a:r>
          </a:p>
        </p:txBody>
      </p:sp>
      <p:sp>
        <p:nvSpPr>
          <p:cNvPr id="21" name="cell01"/>
          <p:cNvSpPr/>
          <p:nvPr/>
        </p:nvSpPr>
        <p:spPr>
          <a:xfrm>
            <a:off x="4317200" y="1450000"/>
            <a:ext cx="3000000" cy="76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600" b="1" dirty="0">
                <a:solidFill>
                  <a:srgbClr val="FFFFFF"/>
                </a:solidFill>
                <a:latin typeface="Meiryo"/>
                <a:ea typeface="Meiryo"/>
              </a:rPr>
              <a:t>紙だと…</a:t>
            </a:r>
          </a:p>
        </p:txBody>
      </p:sp>
      <p:sp>
        <p:nvSpPr>
          <p:cNvPr id="22" name="cell02"/>
          <p:cNvSpPr/>
          <p:nvPr/>
        </p:nvSpPr>
        <p:spPr>
          <a:xfrm>
            <a:off x="7377200" y="1450000"/>
            <a:ext cx="4800000" cy="76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600" b="1" dirty="0">
                <a:solidFill>
                  <a:srgbClr val="FFFFFF"/>
                </a:solidFill>
                <a:latin typeface="Meiryo"/>
                <a:ea typeface="Meiryo"/>
              </a:rPr>
              <a:t>同人++ なら</a:t>
            </a:r>
          </a:p>
        </p:txBody>
      </p:sp>
      <p:sp>
        <p:nvSpPr>
          <p:cNvPr id="23" name="cell10"/>
          <p:cNvSpPr/>
          <p:nvPr/>
        </p:nvSpPr>
        <p:spPr>
          <a:xfrm>
            <a:off x="457200" y="2240000"/>
            <a:ext cx="3800000" cy="76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500" dirty="0">
                <a:solidFill>
                  <a:srgbClr val="1A1A1A"/>
                </a:solidFill>
                <a:latin typeface="Meiryo"/>
                <a:ea typeface="Meiryo"/>
              </a:rPr>
              <a:t>買えた？ / 売り切れ？</a:t>
            </a:r>
          </a:p>
        </p:txBody>
      </p:sp>
      <p:sp>
        <p:nvSpPr>
          <p:cNvPr id="24" name="cell11"/>
          <p:cNvSpPr/>
          <p:nvPr/>
        </p:nvSpPr>
        <p:spPr>
          <a:xfrm>
            <a:off x="4317200" y="2240000"/>
            <a:ext cx="3000000" cy="76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500" dirty="0">
                <a:solidFill>
                  <a:srgbClr val="C62828"/>
                </a:solidFill>
                <a:latin typeface="Meiryo"/>
                <a:ea typeface="Meiryo"/>
              </a:rPr>
              <a:t>❌ 判別不能</a:t>
            </a:r>
          </a:p>
        </p:txBody>
      </p:sp>
      <p:sp>
        <p:nvSpPr>
          <p:cNvPr id="25" name="cell12"/>
          <p:cNvSpPr/>
          <p:nvPr/>
        </p:nvSpPr>
        <p:spPr>
          <a:xfrm>
            <a:off x="7377200" y="2240000"/>
            <a:ext cx="4800000" cy="76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500" dirty="0">
                <a:solidFill>
                  <a:srgbClr val="2E7D32"/>
                </a:solidFill>
                <a:latin typeface="Meiryo"/>
                <a:ea typeface="Meiryo"/>
              </a:rPr>
              <a:t>✅ ステータスで一発管理</a:t>
            </a:r>
          </a:p>
        </p:txBody>
      </p:sp>
      <p:sp>
        <p:nvSpPr>
          <p:cNvPr id="26" name="cell20"/>
          <p:cNvSpPr/>
          <p:nvPr/>
        </p:nvSpPr>
        <p:spPr>
          <a:xfrm>
            <a:off x="457200" y="3030000"/>
            <a:ext cx="3800000" cy="76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500" dirty="0">
                <a:solidFill>
                  <a:srgbClr val="1A1A1A"/>
                </a:solidFill>
                <a:latin typeface="Meiryo"/>
                <a:ea typeface="Meiryo"/>
              </a:rPr>
              <a:t>いくら使った？</a:t>
            </a:r>
          </a:p>
        </p:txBody>
      </p:sp>
      <p:sp>
        <p:nvSpPr>
          <p:cNvPr id="27" name="cell21"/>
          <p:cNvSpPr/>
          <p:nvPr/>
        </p:nvSpPr>
        <p:spPr>
          <a:xfrm>
            <a:off x="4317200" y="3030000"/>
            <a:ext cx="3000000" cy="76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500" dirty="0">
                <a:solidFill>
                  <a:srgbClr val="C62828"/>
                </a:solidFill>
                <a:latin typeface="Meiryo"/>
                <a:ea typeface="Meiryo"/>
              </a:rPr>
              <a:t>❌ 暗算が必要</a:t>
            </a:r>
          </a:p>
        </p:txBody>
      </p:sp>
      <p:sp>
        <p:nvSpPr>
          <p:cNvPr id="28" name="cell22"/>
          <p:cNvSpPr/>
          <p:nvPr/>
        </p:nvSpPr>
        <p:spPr>
          <a:xfrm>
            <a:off x="7377200" y="3030000"/>
            <a:ext cx="4800000" cy="76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500" dirty="0">
                <a:solidFill>
                  <a:srgbClr val="2E7D32"/>
                </a:solidFill>
                <a:latin typeface="Meiryo"/>
                <a:ea typeface="Meiryo"/>
              </a:rPr>
              <a:t>✅ リアルタイム集計</a:t>
            </a:r>
          </a:p>
        </p:txBody>
      </p:sp>
      <p:sp>
        <p:nvSpPr>
          <p:cNvPr id="29" name="cell30"/>
          <p:cNvSpPr/>
          <p:nvPr/>
        </p:nvSpPr>
        <p:spPr>
          <a:xfrm>
            <a:off x="457200" y="3820000"/>
            <a:ext cx="3800000" cy="76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500" dirty="0">
                <a:solidFill>
                  <a:srgbClr val="1A1A1A"/>
                </a:solidFill>
                <a:latin typeface="Meiryo"/>
                <a:ea typeface="Meiryo"/>
              </a:rPr>
              <a:t>次はどこへ行く？</a:t>
            </a:r>
          </a:p>
        </p:txBody>
      </p:sp>
      <p:sp>
        <p:nvSpPr>
          <p:cNvPr id="30" name="cell31"/>
          <p:cNvSpPr/>
          <p:nvPr/>
        </p:nvSpPr>
        <p:spPr>
          <a:xfrm>
            <a:off x="4317200" y="3820000"/>
            <a:ext cx="3000000" cy="76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500" dirty="0">
                <a:solidFill>
                  <a:srgbClr val="C62828"/>
                </a:solidFill>
                <a:latin typeface="Meiryo"/>
                <a:ea typeface="Meiryo"/>
              </a:rPr>
              <a:t>❌ 地図を広げて判断</a:t>
            </a:r>
          </a:p>
        </p:txBody>
      </p:sp>
      <p:sp>
        <p:nvSpPr>
          <p:cNvPr id="31" name="cell32"/>
          <p:cNvSpPr/>
          <p:nvPr/>
        </p:nvSpPr>
        <p:spPr>
          <a:xfrm>
            <a:off x="7377200" y="3820000"/>
            <a:ext cx="4800000" cy="76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500" dirty="0">
                <a:solidFill>
                  <a:srgbClr val="2E7D32"/>
                </a:solidFill>
                <a:latin typeface="Meiryo"/>
                <a:ea typeface="Meiryo"/>
              </a:rPr>
              <a:t>✅ 最短ルートを自動案内</a:t>
            </a:r>
          </a:p>
        </p:txBody>
      </p:sp>
      <p:sp>
        <p:nvSpPr>
          <p:cNvPr id="32" name="cell40"/>
          <p:cNvSpPr/>
          <p:nvPr/>
        </p:nvSpPr>
        <p:spPr>
          <a:xfrm>
            <a:off x="457200" y="4610000"/>
            <a:ext cx="3800000" cy="76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500" dirty="0">
                <a:solidFill>
                  <a:srgbClr val="1A1A1A"/>
                </a:solidFill>
                <a:latin typeface="Meiryo"/>
                <a:ea typeface="Meiryo"/>
              </a:rPr>
              <a:t>買った本をあとで探せる？</a:t>
            </a:r>
          </a:p>
        </p:txBody>
      </p:sp>
      <p:sp>
        <p:nvSpPr>
          <p:cNvPr id="33" name="cell41"/>
          <p:cNvSpPr/>
          <p:nvPr/>
        </p:nvSpPr>
        <p:spPr>
          <a:xfrm>
            <a:off x="4317200" y="4610000"/>
            <a:ext cx="3000000" cy="760000"/>
          </a:xfrm>
          <a:prstGeom prst="rect">
            <a:avLst/>
          </a:prstGeom>
          <a:solidFill>
            <a:srgbClr val="FFEBEE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500" dirty="0">
                <a:solidFill>
                  <a:srgbClr val="C62828"/>
                </a:solidFill>
                <a:latin typeface="Meiryo"/>
                <a:ea typeface="Meiryo"/>
              </a:rPr>
              <a:t>❌ 記憶頼り</a:t>
            </a:r>
          </a:p>
        </p:txBody>
      </p:sp>
      <p:sp>
        <p:nvSpPr>
          <p:cNvPr id="34" name="cell42"/>
          <p:cNvSpPr/>
          <p:nvPr/>
        </p:nvSpPr>
        <p:spPr>
          <a:xfrm>
            <a:off x="7377200" y="4610000"/>
            <a:ext cx="4800000" cy="760000"/>
          </a:xfrm>
          <a:prstGeom prst="rect">
            <a:avLst/>
          </a:prstGeom>
          <a:solidFill>
            <a:srgbClr val="E8F5E9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500" dirty="0">
                <a:solidFill>
                  <a:srgbClr val="2E7D32"/>
                </a:solidFill>
                <a:latin typeface="Meiryo"/>
                <a:ea typeface="Meiryo"/>
              </a:rPr>
              <a:t>✅ 本棚機能で完全管理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g"/>
          <p:cNvSpPr/>
          <p:nvPr/>
        </p:nvSpPr>
        <p:spPr>
          <a:xfrm>
            <a:off x="10000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b="1">
              <a:latin typeface="Tsukushi A Round Gothic Bold" panose="02020400000000000000" pitchFamily="18" charset="-128"/>
              <a:ea typeface="Tsukushi A Round Gothic Bold" panose="02020400000000000000" pitchFamily="18" charset="-128"/>
            </a:endParaRPr>
          </a:p>
        </p:txBody>
      </p:sp>
      <p:sp>
        <p:nvSpPr>
          <p:cNvPr id="11" name="topbar"/>
          <p:cNvSpPr/>
          <p:nvPr/>
        </p:nvSpPr>
        <p:spPr>
          <a:xfrm>
            <a:off x="-13867" y="0"/>
            <a:ext cx="12192000" cy="1143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/>
          <a:lstStyle/>
          <a:p>
            <a:endParaRPr b="1">
              <a:latin typeface="Tsukushi A Round Gothic Bold" panose="02020400000000000000" pitchFamily="18" charset="-128"/>
              <a:ea typeface="Tsukushi A Round Gothic Bold" panose="02020400000000000000" pitchFamily="18" charset="-128"/>
            </a:endParaRPr>
          </a:p>
        </p:txBody>
      </p:sp>
      <p:sp>
        <p:nvSpPr>
          <p:cNvPr id="12" name="lstrip"/>
          <p:cNvSpPr/>
          <p:nvPr/>
        </p:nvSpPr>
        <p:spPr>
          <a:xfrm>
            <a:off x="0" y="1143000"/>
            <a:ext cx="18000" cy="5715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/>
          <a:lstStyle/>
          <a:p>
            <a:endParaRPr b="1">
              <a:latin typeface="Tsukushi A Round Gothic Bold" panose="02020400000000000000" pitchFamily="18" charset="-128"/>
              <a:ea typeface="Tsukushi A Round Gothic Bold" panose="02020400000000000000" pitchFamily="18" charset="-128"/>
            </a:endParaRPr>
          </a:p>
        </p:txBody>
      </p:sp>
      <p:sp>
        <p:nvSpPr>
          <p:cNvPr id="13" name="section_lbl"/>
          <p:cNvSpPr txBox="1"/>
          <p:nvPr/>
        </p:nvSpPr>
        <p:spPr>
          <a:xfrm>
            <a:off x="10692000" y="80000"/>
            <a:ext cx="1400000" cy="3077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r"/>
            <a:r>
              <a:rPr lang="ja-JP" altLang="en-US" sz="1400" b="1" dirty="0">
                <a:solidFill>
                  <a:srgbClr val="1A1A1A"/>
                </a:solidFill>
                <a:latin typeface="Tsukushi A Round Gothic Bold" panose="02020400000000000000" pitchFamily="18" charset="-128"/>
                <a:ea typeface="Tsukushi A Round Gothic Bold" panose="02020400000000000000" pitchFamily="18" charset="-128"/>
              </a:rPr>
              <a:t>Section 01</a:t>
            </a:r>
          </a:p>
        </p:txBody>
      </p:sp>
      <p:sp>
        <p:nvSpPr>
          <p:cNvPr id="14" name="title_txt"/>
          <p:cNvSpPr txBox="1"/>
          <p:nvPr/>
        </p:nvSpPr>
        <p:spPr>
          <a:xfrm>
            <a:off x="457200" y="365504"/>
            <a:ext cx="9777600" cy="64633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ja-JP" altLang="en-US" sz="3600" b="1">
                <a:solidFill>
                  <a:srgbClr val="1A1A1A"/>
                </a:solidFill>
                <a:latin typeface="Tsukushi A Round Gothic Bold" panose="02020400000000000000" pitchFamily="18" charset="-128"/>
                <a:ea typeface="Tsukushi A Round Gothic Bold" panose="02020400000000000000" pitchFamily="18" charset="-128"/>
              </a:rPr>
              <a:t>文明の利器を</a:t>
            </a:r>
            <a:r>
              <a:rPr lang="ja-JP" altLang="en-US" sz="3600" b="1" dirty="0">
                <a:solidFill>
                  <a:srgbClr val="1A1A1A"/>
                </a:solidFill>
                <a:latin typeface="Tsukushi A Round Gothic Bold" panose="02020400000000000000" pitchFamily="18" charset="-128"/>
                <a:ea typeface="Tsukushi A Round Gothic Bold" panose="02020400000000000000" pitchFamily="18" charset="-128"/>
              </a:rPr>
              <a:t>最大限に活かす</a:t>
            </a:r>
          </a:p>
        </p:txBody>
      </p:sp>
      <p:sp>
        <p:nvSpPr>
          <p:cNvPr id="20" name="quote_bg"/>
          <p:cNvSpPr/>
          <p:nvPr/>
        </p:nvSpPr>
        <p:spPr>
          <a:xfrm>
            <a:off x="457200" y="1350000"/>
            <a:ext cx="11277600" cy="1000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2400" b="1" dirty="0">
                <a:solidFill>
                  <a:srgbClr val="1A1A1A"/>
                </a:solidFill>
                <a:latin typeface="Tsukushi A Round Gothic Bold" panose="02020400000000000000" pitchFamily="18" charset="-128"/>
                <a:ea typeface="Tsukushi A Round Gothic Bold" panose="02020400000000000000" pitchFamily="18" charset="-128"/>
              </a:rPr>
              <a:t>スマホは常に手元にある。ならば、それを最大限に活用</a:t>
            </a:r>
            <a:r>
              <a:rPr lang="ja-JP" altLang="en-US" sz="2400" b="1">
                <a:solidFill>
                  <a:srgbClr val="1A1A1A"/>
                </a:solidFill>
                <a:latin typeface="Tsukushi A Round Gothic Bold" panose="02020400000000000000" pitchFamily="18" charset="-128"/>
                <a:ea typeface="Tsukushi A Round Gothic Bold" panose="02020400000000000000" pitchFamily="18" charset="-128"/>
              </a:rPr>
              <a:t>すべき</a:t>
            </a:r>
            <a:r>
              <a:rPr lang="en-US" altLang="ja-JP" sz="2400" b="1" dirty="0">
                <a:solidFill>
                  <a:srgbClr val="1A1A1A"/>
                </a:solidFill>
                <a:latin typeface="Tsukushi A Round Gothic Bold" panose="02020400000000000000" pitchFamily="18" charset="-128"/>
                <a:ea typeface="Tsukushi A Round Gothic Bold" panose="02020400000000000000" pitchFamily="18" charset="-128"/>
              </a:rPr>
              <a:t>!!</a:t>
            </a:r>
            <a:endParaRPr lang="ja-JP" altLang="en-US" sz="2400" b="1" dirty="0">
              <a:solidFill>
                <a:srgbClr val="1A1A1A"/>
              </a:solidFill>
              <a:latin typeface="Tsukushi A Round Gothic Bold" panose="02020400000000000000" pitchFamily="18" charset="-128"/>
              <a:ea typeface="Tsukushi A Round Gothic Bold" panose="02020400000000000000" pitchFamily="18" charset="-128"/>
            </a:endParaRPr>
          </a:p>
        </p:txBody>
      </p:sp>
      <p:sp>
        <p:nvSpPr>
          <p:cNvPr id="30" name="card_bg0"/>
          <p:cNvSpPr/>
          <p:nvPr/>
        </p:nvSpPr>
        <p:spPr>
          <a:xfrm>
            <a:off x="457200" y="2550000"/>
            <a:ext cx="3719200" cy="140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700" b="1">
                <a:solidFill>
                  <a:srgbClr val="FFFFFF"/>
                </a:solidFill>
                <a:latin typeface="Tsukushi A Round Gothic Bold" panose="02020400000000000000" pitchFamily="18" charset="-128"/>
                <a:ea typeface="Tsukushi A Round Gothic Bold" panose="02020400000000000000" pitchFamily="18" charset="-128"/>
              </a:rPr>
              <a:t>紙・ペンの用意</a:t>
            </a:r>
            <a:endParaRPr lang="ja-JP" altLang="en-US" sz="1700" b="1" dirty="0">
              <a:solidFill>
                <a:srgbClr val="FFFFFF"/>
              </a:solidFill>
              <a:latin typeface="Tsukushi A Round Gothic Bold" panose="02020400000000000000" pitchFamily="18" charset="-128"/>
              <a:ea typeface="Tsukushi A Round Gothic Bold" panose="02020400000000000000" pitchFamily="18" charset="-128"/>
            </a:endParaRPr>
          </a:p>
        </p:txBody>
      </p:sp>
      <p:sp>
        <p:nvSpPr>
          <p:cNvPr id="31" name="card_val0"/>
          <p:cNvSpPr/>
          <p:nvPr/>
        </p:nvSpPr>
        <p:spPr>
          <a:xfrm>
            <a:off x="457200" y="3980000"/>
            <a:ext cx="3719200" cy="700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en-US" altLang="ja-JP" sz="2000" b="1" dirty="0">
                <a:solidFill>
                  <a:srgbClr val="1A1A1A"/>
                </a:solidFill>
                <a:latin typeface="Tsukushi A Round Gothic Bold" panose="02020400000000000000" pitchFamily="18" charset="-128"/>
                <a:ea typeface="Tsukushi A Round Gothic Bold" panose="02020400000000000000" pitchFamily="18" charset="-128"/>
              </a:rPr>
              <a:t>Nothing </a:t>
            </a:r>
            <a:r>
              <a:rPr lang="ja-JP" altLang="en-US" sz="2000" b="1">
                <a:solidFill>
                  <a:srgbClr val="1A1A1A"/>
                </a:solidFill>
                <a:latin typeface="Tsukushi A Round Gothic Bold" panose="02020400000000000000" pitchFamily="18" charset="-128"/>
                <a:ea typeface="Tsukushi A Round Gothic Bold" panose="02020400000000000000" pitchFamily="18" charset="-128"/>
              </a:rPr>
              <a:t>！</a:t>
            </a:r>
            <a:endParaRPr lang="ja-JP" altLang="en-US" sz="2000" b="1" dirty="0">
              <a:solidFill>
                <a:srgbClr val="1A1A1A"/>
              </a:solidFill>
              <a:latin typeface="Tsukushi A Round Gothic Bold" panose="02020400000000000000" pitchFamily="18" charset="-128"/>
              <a:ea typeface="Tsukushi A Round Gothic Bold" panose="02020400000000000000" pitchFamily="18" charset="-128"/>
            </a:endParaRPr>
          </a:p>
        </p:txBody>
      </p:sp>
      <p:sp>
        <p:nvSpPr>
          <p:cNvPr id="32" name="card_bg1"/>
          <p:cNvSpPr/>
          <p:nvPr/>
        </p:nvSpPr>
        <p:spPr>
          <a:xfrm>
            <a:off x="4236400" y="2550000"/>
            <a:ext cx="3719200" cy="140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700" b="1">
                <a:solidFill>
                  <a:srgbClr val="FFFFFF"/>
                </a:solidFill>
                <a:latin typeface="Tsukushi A Round Gothic Bold" panose="02020400000000000000" pitchFamily="18" charset="-128"/>
                <a:ea typeface="Tsukushi A Round Gothic Bold" panose="02020400000000000000" pitchFamily="18" charset="-128"/>
              </a:rPr>
              <a:t>「</a:t>
            </a:r>
            <a:r>
              <a:rPr lang="ja-JP" altLang="en-US" sz="1700" b="1" dirty="0">
                <a:solidFill>
                  <a:srgbClr val="FFFFFF"/>
                </a:solidFill>
                <a:latin typeface="Tsukushi A Round Gothic Bold" panose="02020400000000000000" pitchFamily="18" charset="-128"/>
                <a:ea typeface="Tsukushi A Round Gothic Bold" panose="02020400000000000000" pitchFamily="18" charset="-128"/>
              </a:rPr>
              <a:t>買えた」「売り切れ」の区別</a:t>
            </a:r>
          </a:p>
        </p:txBody>
      </p:sp>
      <p:sp>
        <p:nvSpPr>
          <p:cNvPr id="33" name="card_val1"/>
          <p:cNvSpPr/>
          <p:nvPr/>
        </p:nvSpPr>
        <p:spPr>
          <a:xfrm>
            <a:off x="4236400" y="3980000"/>
            <a:ext cx="3719200" cy="700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2000" b="1" dirty="0">
                <a:solidFill>
                  <a:srgbClr val="1A1A1A"/>
                </a:solidFill>
                <a:latin typeface="Tsukushi A Round Gothic Bold" panose="02020400000000000000" pitchFamily="18" charset="-128"/>
                <a:ea typeface="Tsukushi A Round Gothic Bold" panose="02020400000000000000" pitchFamily="18" charset="-128"/>
              </a:rPr>
              <a:t>ワンタップ</a:t>
            </a:r>
            <a:r>
              <a:rPr lang="ja-JP" altLang="en-US" sz="2000" b="1">
                <a:solidFill>
                  <a:srgbClr val="1A1A1A"/>
                </a:solidFill>
                <a:latin typeface="Tsukushi A Round Gothic Bold" panose="02020400000000000000" pitchFamily="18" charset="-128"/>
                <a:ea typeface="Tsukushi A Round Gothic Bold" panose="02020400000000000000" pitchFamily="18" charset="-128"/>
              </a:rPr>
              <a:t>で記録！</a:t>
            </a:r>
            <a:endParaRPr lang="ja-JP" altLang="en-US" sz="2000" b="1" dirty="0">
              <a:solidFill>
                <a:srgbClr val="1A1A1A"/>
              </a:solidFill>
              <a:latin typeface="Tsukushi A Round Gothic Bold" panose="02020400000000000000" pitchFamily="18" charset="-128"/>
              <a:ea typeface="Tsukushi A Round Gothic Bold" panose="02020400000000000000" pitchFamily="18" charset="-128"/>
            </a:endParaRPr>
          </a:p>
        </p:txBody>
      </p:sp>
      <p:sp>
        <p:nvSpPr>
          <p:cNvPr id="34" name="card_bg2"/>
          <p:cNvSpPr/>
          <p:nvPr/>
        </p:nvSpPr>
        <p:spPr>
          <a:xfrm>
            <a:off x="8015600" y="2550000"/>
            <a:ext cx="3719200" cy="140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700" b="1">
                <a:solidFill>
                  <a:srgbClr val="FFFFFF"/>
                </a:solidFill>
                <a:latin typeface="Tsukushi A Round Gothic Bold" panose="02020400000000000000" pitchFamily="18" charset="-128"/>
                <a:ea typeface="Tsukushi A Round Gothic Bold" panose="02020400000000000000" pitchFamily="18" charset="-128"/>
              </a:rPr>
              <a:t> </a:t>
            </a:r>
            <a:r>
              <a:rPr lang="ja-JP" altLang="en-US" sz="1700" b="1" dirty="0">
                <a:solidFill>
                  <a:srgbClr val="FFFFFF"/>
                </a:solidFill>
                <a:latin typeface="Tsukushi A Round Gothic Bold" panose="02020400000000000000" pitchFamily="18" charset="-128"/>
                <a:ea typeface="Tsukushi A Round Gothic Bold" panose="02020400000000000000" pitchFamily="18" charset="-128"/>
              </a:rPr>
              <a:t>即売会当日〜帰宅後の蔵書管理</a:t>
            </a:r>
          </a:p>
        </p:txBody>
      </p:sp>
      <p:sp>
        <p:nvSpPr>
          <p:cNvPr id="35" name="card_val2"/>
          <p:cNvSpPr/>
          <p:nvPr/>
        </p:nvSpPr>
        <p:spPr>
          <a:xfrm>
            <a:off x="8015600" y="3980000"/>
            <a:ext cx="3719200" cy="700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2000" b="1" dirty="0">
                <a:solidFill>
                  <a:srgbClr val="1A1A1A"/>
                </a:solidFill>
                <a:latin typeface="Tsukushi A Round Gothic Bold" panose="02020400000000000000" pitchFamily="18" charset="-128"/>
                <a:ea typeface="Tsukushi A Round Gothic Bold" panose="02020400000000000000" pitchFamily="18" charset="-128"/>
              </a:rPr>
              <a:t>ひとつのアプリ</a:t>
            </a:r>
            <a:r>
              <a:rPr lang="ja-JP" altLang="en-US" sz="2000" b="1">
                <a:solidFill>
                  <a:srgbClr val="1A1A1A"/>
                </a:solidFill>
                <a:latin typeface="Tsukushi A Round Gothic Bold" panose="02020400000000000000" pitchFamily="18" charset="-128"/>
                <a:ea typeface="Tsukushi A Round Gothic Bold" panose="02020400000000000000" pitchFamily="18" charset="-128"/>
              </a:rPr>
              <a:t>で完結！</a:t>
            </a:r>
            <a:endParaRPr lang="ja-JP" altLang="en-US" sz="2000" b="1" dirty="0">
              <a:solidFill>
                <a:srgbClr val="1A1A1A"/>
              </a:solidFill>
              <a:latin typeface="Tsukushi A Round Gothic Bold" panose="02020400000000000000" pitchFamily="18" charset="-128"/>
              <a:ea typeface="Tsukushi A Round Gothic Bold" panose="02020400000000000000" pitchFamily="18" charset="-128"/>
            </a:endParaRPr>
          </a:p>
        </p:txBody>
      </p:sp>
      <p:sp>
        <p:nvSpPr>
          <p:cNvPr id="2" name="title_txt">
            <a:extLst>
              <a:ext uri="{FF2B5EF4-FFF2-40B4-BE49-F238E27FC236}">
                <a16:creationId xmlns:a16="http://schemas.microsoft.com/office/drawing/2014/main" id="{B7642268-7F99-0E10-3537-A4596422988D}"/>
              </a:ext>
            </a:extLst>
          </p:cNvPr>
          <p:cNvSpPr txBox="1"/>
          <p:nvPr/>
        </p:nvSpPr>
        <p:spPr>
          <a:xfrm>
            <a:off x="1125933" y="80000"/>
            <a:ext cx="1662533" cy="4616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ja-JP" altLang="en-US" sz="2400" b="1" spc="700">
                <a:solidFill>
                  <a:srgbClr val="1A1A1A"/>
                </a:solidFill>
                <a:latin typeface="Tsukushi A Round Gothic Bold" panose="02020400000000000000" pitchFamily="18" charset="-128"/>
                <a:ea typeface="Tsukushi A Round Gothic Bold" panose="02020400000000000000" pitchFamily="18" charset="-128"/>
              </a:rPr>
              <a:t>スマホ</a:t>
            </a:r>
            <a:endParaRPr lang="ja-JP" altLang="en-US" sz="2400" b="1" spc="700" dirty="0">
              <a:solidFill>
                <a:srgbClr val="1A1A1A"/>
              </a:solidFill>
              <a:latin typeface="Tsukushi A Round Gothic Bold" panose="02020400000000000000" pitchFamily="18" charset="-128"/>
              <a:ea typeface="Tsukushi A Round Gothic Bold" panose="02020400000000000000" pitchFamily="18" charset="-128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4268F9F-F6E7-74B8-D3D1-A10F5963CFEE}"/>
              </a:ext>
            </a:extLst>
          </p:cNvPr>
          <p:cNvSpPr txBox="1"/>
          <p:nvPr/>
        </p:nvSpPr>
        <p:spPr>
          <a:xfrm>
            <a:off x="579862" y="412594"/>
            <a:ext cx="747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/>
              <a:t>素材</a:t>
            </a:r>
          </a:p>
        </p:txBody>
      </p:sp>
      <p:pic>
        <p:nvPicPr>
          <p:cNvPr id="28" name="図 27" descr="グラフィカル ユーザー インターフェイス, アプリケーション  自動的に生成された説明">
            <a:extLst>
              <a:ext uri="{FF2B5EF4-FFF2-40B4-BE49-F238E27FC236}">
                <a16:creationId xmlns:a16="http://schemas.microsoft.com/office/drawing/2014/main" id="{12938A30-D302-5A07-38A0-1B1D8B46ED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62303" y="92982"/>
            <a:ext cx="1305580" cy="2628452"/>
          </a:xfrm>
          <a:prstGeom prst="rect">
            <a:avLst/>
          </a:prstGeom>
        </p:spPr>
      </p:pic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8C95D18F-2412-FBA3-E18A-7BE895DBB960}"/>
              </a:ext>
            </a:extLst>
          </p:cNvPr>
          <p:cNvGrpSpPr/>
          <p:nvPr/>
        </p:nvGrpSpPr>
        <p:grpSpPr>
          <a:xfrm>
            <a:off x="7999412" y="92982"/>
            <a:ext cx="1305580" cy="2628452"/>
            <a:chOff x="757204" y="410554"/>
            <a:chExt cx="2966145" cy="5971576"/>
          </a:xfrm>
          <a:effectLst>
            <a:outerShdw dist="91524" dir="5400000" algn="t" rotWithShape="0">
              <a:prstClr val="black">
                <a:alpha val="62038"/>
              </a:prstClr>
            </a:outerShdw>
          </a:effectLst>
        </p:grpSpPr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6964353E-EA04-7CDE-2392-28FF1F5C3039}"/>
                </a:ext>
              </a:extLst>
            </p:cNvPr>
            <p:cNvSpPr txBox="1"/>
            <p:nvPr/>
          </p:nvSpPr>
          <p:spPr>
            <a:xfrm>
              <a:off x="2698230" y="629587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kumimoji="1" lang="ja-JP" altLang="en-US"/>
            </a:p>
          </p:txBody>
        </p:sp>
        <p:pic>
          <p:nvPicPr>
            <p:cNvPr id="5" name="図 4" descr="携帯電話の画面のスクリーンショット  自動的に生成された説明">
              <a:extLst>
                <a:ext uri="{FF2B5EF4-FFF2-40B4-BE49-F238E27FC236}">
                  <a16:creationId xmlns:a16="http://schemas.microsoft.com/office/drawing/2014/main" id="{74F755D4-274D-E01E-D098-AAD28D00990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b="808"/>
            <a:stretch>
              <a:fillRect/>
            </a:stretch>
          </p:blipFill>
          <p:spPr>
            <a:xfrm>
              <a:off x="915892" y="557819"/>
              <a:ext cx="2660427" cy="5710901"/>
            </a:xfrm>
            <a:custGeom>
              <a:avLst/>
              <a:gdLst>
                <a:gd name="connsiteX0" fmla="*/ 430997 w 2626994"/>
                <a:gd name="connsiteY0" fmla="*/ 0 h 5639133"/>
                <a:gd name="connsiteX1" fmla="*/ 2187784 w 2626994"/>
                <a:gd name="connsiteY1" fmla="*/ 0 h 5639133"/>
                <a:gd name="connsiteX2" fmla="*/ 2626994 w 2626994"/>
                <a:gd name="connsiteY2" fmla="*/ 439210 h 5639133"/>
                <a:gd name="connsiteX3" fmla="*/ 2626994 w 2626994"/>
                <a:gd name="connsiteY3" fmla="*/ 5199923 h 5639133"/>
                <a:gd name="connsiteX4" fmla="*/ 2187784 w 2626994"/>
                <a:gd name="connsiteY4" fmla="*/ 5639133 h 5639133"/>
                <a:gd name="connsiteX5" fmla="*/ 430997 w 2626994"/>
                <a:gd name="connsiteY5" fmla="*/ 5639133 h 5639133"/>
                <a:gd name="connsiteX6" fmla="*/ 710 w 2626994"/>
                <a:gd name="connsiteY6" fmla="*/ 5288439 h 5639133"/>
                <a:gd name="connsiteX7" fmla="*/ 0 w 2626994"/>
                <a:gd name="connsiteY7" fmla="*/ 5281394 h 5639133"/>
                <a:gd name="connsiteX8" fmla="*/ 0 w 2626994"/>
                <a:gd name="connsiteY8" fmla="*/ 357739 h 5639133"/>
                <a:gd name="connsiteX9" fmla="*/ 710 w 2626994"/>
                <a:gd name="connsiteY9" fmla="*/ 350694 h 5639133"/>
                <a:gd name="connsiteX10" fmla="*/ 430997 w 2626994"/>
                <a:gd name="connsiteY10" fmla="*/ 0 h 5639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626994" h="5639133">
                  <a:moveTo>
                    <a:pt x="430997" y="0"/>
                  </a:moveTo>
                  <a:lnTo>
                    <a:pt x="2187784" y="0"/>
                  </a:lnTo>
                  <a:cubicBezTo>
                    <a:pt x="2430353" y="0"/>
                    <a:pt x="2626994" y="196641"/>
                    <a:pt x="2626994" y="439210"/>
                  </a:cubicBezTo>
                  <a:lnTo>
                    <a:pt x="2626994" y="5199923"/>
                  </a:lnTo>
                  <a:cubicBezTo>
                    <a:pt x="2626994" y="5442492"/>
                    <a:pt x="2430353" y="5639133"/>
                    <a:pt x="2187784" y="5639133"/>
                  </a:cubicBezTo>
                  <a:lnTo>
                    <a:pt x="430997" y="5639133"/>
                  </a:lnTo>
                  <a:cubicBezTo>
                    <a:pt x="218749" y="5639133"/>
                    <a:pt x="41665" y="5488580"/>
                    <a:pt x="710" y="5288439"/>
                  </a:cubicBezTo>
                  <a:lnTo>
                    <a:pt x="0" y="5281394"/>
                  </a:lnTo>
                  <a:lnTo>
                    <a:pt x="0" y="357739"/>
                  </a:lnTo>
                  <a:lnTo>
                    <a:pt x="710" y="350694"/>
                  </a:lnTo>
                  <a:cubicBezTo>
                    <a:pt x="41665" y="150553"/>
                    <a:pt x="218749" y="0"/>
                    <a:pt x="430997" y="0"/>
                  </a:cubicBezTo>
                  <a:close/>
                </a:path>
              </a:pathLst>
            </a:custGeom>
          </p:spPr>
        </p:pic>
        <p:pic>
          <p:nvPicPr>
            <p:cNvPr id="7" name="図 6" descr="グラフィカル ユーザー インターフェイス, アプリケーション  自動的に生成された説明">
              <a:extLst>
                <a:ext uri="{FF2B5EF4-FFF2-40B4-BE49-F238E27FC236}">
                  <a16:creationId xmlns:a16="http://schemas.microsoft.com/office/drawing/2014/main" id="{09315504-EF0D-6A8A-24FD-C9BDD999348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57204" y="410554"/>
              <a:ext cx="2966145" cy="5971576"/>
            </a:xfrm>
            <a:prstGeom prst="rect">
              <a:avLst/>
            </a:prstGeom>
          </p:spPr>
        </p:pic>
      </p:grpSp>
      <p:pic>
        <p:nvPicPr>
          <p:cNvPr id="9" name="図 8" descr="図形&#10;&#10;中程度の精度で自動的に生成された説明">
            <a:extLst>
              <a:ext uri="{FF2B5EF4-FFF2-40B4-BE49-F238E27FC236}">
                <a16:creationId xmlns:a16="http://schemas.microsoft.com/office/drawing/2014/main" id="{D8B450B2-86B3-2C46-7C75-5C6809510AE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17224" y="5645906"/>
            <a:ext cx="941080" cy="1212094"/>
          </a:xfrm>
          <a:prstGeom prst="rect">
            <a:avLst/>
          </a:prstGeom>
        </p:spPr>
      </p:pic>
      <p:pic>
        <p:nvPicPr>
          <p:cNvPr id="11" name="図 10" descr="図形&#10;&#10;低い精度で自動的に生成された説明">
            <a:extLst>
              <a:ext uri="{FF2B5EF4-FFF2-40B4-BE49-F238E27FC236}">
                <a16:creationId xmlns:a16="http://schemas.microsoft.com/office/drawing/2014/main" id="{095243AD-154A-0C65-F673-EAC859C5CEC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5742" y="5898776"/>
            <a:ext cx="764357" cy="667124"/>
          </a:xfrm>
          <a:prstGeom prst="rect">
            <a:avLst/>
          </a:prstGeom>
        </p:spPr>
      </p:pic>
      <p:pic>
        <p:nvPicPr>
          <p:cNvPr id="13" name="図 12" descr="図形&#10;&#10;中程度の精度で自動的に生成された説明">
            <a:extLst>
              <a:ext uri="{FF2B5EF4-FFF2-40B4-BE49-F238E27FC236}">
                <a16:creationId xmlns:a16="http://schemas.microsoft.com/office/drawing/2014/main" id="{23688F47-1352-B2C9-F303-6B60FBBEEEE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 flipH="1">
            <a:off x="6296212" y="3696911"/>
            <a:ext cx="995092" cy="816396"/>
          </a:xfrm>
          <a:prstGeom prst="rect">
            <a:avLst/>
          </a:prstGeom>
        </p:spPr>
      </p:pic>
      <p:pic>
        <p:nvPicPr>
          <p:cNvPr id="15" name="図 14" descr="黒い背景と白い文字&#10;&#10;自動的に生成された説明">
            <a:extLst>
              <a:ext uri="{FF2B5EF4-FFF2-40B4-BE49-F238E27FC236}">
                <a16:creationId xmlns:a16="http://schemas.microsoft.com/office/drawing/2014/main" id="{6C3EF6DE-50A2-6AA5-2BD1-209C45269E4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98597" y="227681"/>
            <a:ext cx="1187983" cy="1196423"/>
          </a:xfrm>
          <a:prstGeom prst="rect">
            <a:avLst/>
          </a:prstGeom>
        </p:spPr>
      </p:pic>
      <p:pic>
        <p:nvPicPr>
          <p:cNvPr id="17" name="図 16" descr="図形&#10;&#10;中程度の精度で自動的に生成された説明">
            <a:extLst>
              <a:ext uri="{FF2B5EF4-FFF2-40B4-BE49-F238E27FC236}">
                <a16:creationId xmlns:a16="http://schemas.microsoft.com/office/drawing/2014/main" id="{6E8818CF-187A-6FAA-F651-6835748E285E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127130" y="2945375"/>
            <a:ext cx="1365949" cy="1503071"/>
          </a:xfrm>
          <a:prstGeom prst="rect">
            <a:avLst/>
          </a:prstGeom>
        </p:spPr>
      </p:pic>
      <p:pic>
        <p:nvPicPr>
          <p:cNvPr id="19" name="図 18" descr="図形&#10;&#10;中程度の精度で自動的に生成された説明">
            <a:extLst>
              <a:ext uri="{FF2B5EF4-FFF2-40B4-BE49-F238E27FC236}">
                <a16:creationId xmlns:a16="http://schemas.microsoft.com/office/drawing/2014/main" id="{D23D17E2-D628-6A70-AB64-48F354DC6FB6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61975" y="1470280"/>
            <a:ext cx="1375035" cy="1275780"/>
          </a:xfrm>
          <a:prstGeom prst="rect">
            <a:avLst/>
          </a:prstGeom>
        </p:spPr>
      </p:pic>
      <p:pic>
        <p:nvPicPr>
          <p:cNvPr id="21" name="図 20" descr="図形&#10;&#10;中程度の精度で自動的に生成された説明">
            <a:extLst>
              <a:ext uri="{FF2B5EF4-FFF2-40B4-BE49-F238E27FC236}">
                <a16:creationId xmlns:a16="http://schemas.microsoft.com/office/drawing/2014/main" id="{4C6E8985-E1B6-F65B-41D3-19E3D519D35F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83618" y="4165876"/>
            <a:ext cx="1305581" cy="1009067"/>
          </a:xfrm>
          <a:prstGeom prst="rect">
            <a:avLst/>
          </a:prstGeom>
        </p:spPr>
      </p:pic>
      <p:pic>
        <p:nvPicPr>
          <p:cNvPr id="23" name="図 22" descr="図形&#10;&#10;低い精度で自動的に生成された説明">
            <a:extLst>
              <a:ext uri="{FF2B5EF4-FFF2-40B4-BE49-F238E27FC236}">
                <a16:creationId xmlns:a16="http://schemas.microsoft.com/office/drawing/2014/main" id="{FD75008D-D285-7464-10D8-70AC8568CE9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9678" y="5288772"/>
            <a:ext cx="1562941" cy="1424872"/>
          </a:xfrm>
          <a:prstGeom prst="rect">
            <a:avLst/>
          </a:prstGeom>
        </p:spPr>
      </p:pic>
      <p:pic>
        <p:nvPicPr>
          <p:cNvPr id="25" name="図 24" descr="図形&#10;&#10;低い精度で自動的に生成された説明">
            <a:extLst>
              <a:ext uri="{FF2B5EF4-FFF2-40B4-BE49-F238E27FC236}">
                <a16:creationId xmlns:a16="http://schemas.microsoft.com/office/drawing/2014/main" id="{2480308B-F71D-6DED-7BB4-67DE0DFA38AE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210574" y="466855"/>
            <a:ext cx="1536228" cy="1212095"/>
          </a:xfrm>
          <a:prstGeom prst="rect">
            <a:avLst/>
          </a:prstGeom>
        </p:spPr>
      </p:pic>
      <p:pic>
        <p:nvPicPr>
          <p:cNvPr id="29" name="図 28" descr="図形&#10;&#10;低い精度で自動的に生成された説明">
            <a:extLst>
              <a:ext uri="{FF2B5EF4-FFF2-40B4-BE49-F238E27FC236}">
                <a16:creationId xmlns:a16="http://schemas.microsoft.com/office/drawing/2014/main" id="{2CF71B19-ADC2-2ECC-2595-6C94252883AE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984249" y="4068633"/>
            <a:ext cx="861225" cy="1212095"/>
          </a:xfrm>
          <a:prstGeom prst="rect">
            <a:avLst/>
          </a:prstGeom>
        </p:spPr>
      </p:pic>
      <p:pic>
        <p:nvPicPr>
          <p:cNvPr id="33" name="図 32" descr="図形&#10;&#10;低い精度で自動的に生成された説明">
            <a:extLst>
              <a:ext uri="{FF2B5EF4-FFF2-40B4-BE49-F238E27FC236}">
                <a16:creationId xmlns:a16="http://schemas.microsoft.com/office/drawing/2014/main" id="{7E9E96C8-9B33-0A61-12F7-3B9CFD1F20BD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090801" y="5360331"/>
            <a:ext cx="1021933" cy="1345269"/>
          </a:xfrm>
          <a:prstGeom prst="rect">
            <a:avLst/>
          </a:prstGeom>
        </p:spPr>
      </p:pic>
      <p:pic>
        <p:nvPicPr>
          <p:cNvPr id="37" name="図 36" descr="図形&#10;&#10;中程度の精度で自動的に生成された説明">
            <a:extLst>
              <a:ext uri="{FF2B5EF4-FFF2-40B4-BE49-F238E27FC236}">
                <a16:creationId xmlns:a16="http://schemas.microsoft.com/office/drawing/2014/main" id="{C0A14FC4-FDD8-355B-47F6-2EA6CE56303E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1229687" y="92982"/>
            <a:ext cx="1187974" cy="1314845"/>
          </a:xfrm>
          <a:prstGeom prst="rect">
            <a:avLst/>
          </a:prstGeom>
        </p:spPr>
      </p:pic>
      <p:pic>
        <p:nvPicPr>
          <p:cNvPr id="40" name="図 39" descr="図形&#10;&#10;中程度の精度で自動的に生成された説明">
            <a:extLst>
              <a:ext uri="{FF2B5EF4-FFF2-40B4-BE49-F238E27FC236}">
                <a16:creationId xmlns:a16="http://schemas.microsoft.com/office/drawing/2014/main" id="{693F0170-243F-D7A1-F0C0-791C80358545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176475" y="2581943"/>
            <a:ext cx="1515118" cy="1212094"/>
          </a:xfrm>
          <a:prstGeom prst="rect">
            <a:avLst/>
          </a:prstGeom>
        </p:spPr>
      </p:pic>
      <p:pic>
        <p:nvPicPr>
          <p:cNvPr id="42" name="図 41" descr="図形&#10;&#10;低い精度で自動的に生成された説明">
            <a:extLst>
              <a:ext uri="{FF2B5EF4-FFF2-40B4-BE49-F238E27FC236}">
                <a16:creationId xmlns:a16="http://schemas.microsoft.com/office/drawing/2014/main" id="{92B30F87-3952-B96F-D1DC-02F81B087FAE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 flipH="1">
            <a:off x="207259" y="1072903"/>
            <a:ext cx="796349" cy="1367225"/>
          </a:xfrm>
          <a:prstGeom prst="rect">
            <a:avLst/>
          </a:prstGeom>
        </p:spPr>
      </p:pic>
      <p:pic>
        <p:nvPicPr>
          <p:cNvPr id="44" name="図 43" descr="図形&#10;&#10;低い精度で自動的に生成された説明">
            <a:extLst>
              <a:ext uri="{FF2B5EF4-FFF2-40B4-BE49-F238E27FC236}">
                <a16:creationId xmlns:a16="http://schemas.microsoft.com/office/drawing/2014/main" id="{34D43F2E-1E2F-B7D3-E582-E3BCF3444768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10936144" y="4347994"/>
            <a:ext cx="1157136" cy="1542848"/>
          </a:xfrm>
          <a:prstGeom prst="rect">
            <a:avLst/>
          </a:prstGeom>
        </p:spPr>
      </p:pic>
      <p:pic>
        <p:nvPicPr>
          <p:cNvPr id="46" name="図 45" descr="図形&#10;&#10;中程度の精度で自動的に生成された説明">
            <a:extLst>
              <a:ext uri="{FF2B5EF4-FFF2-40B4-BE49-F238E27FC236}">
                <a16:creationId xmlns:a16="http://schemas.microsoft.com/office/drawing/2014/main" id="{64DA100F-F845-1890-F169-350801A2511B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10708606" y="3142988"/>
            <a:ext cx="1500778" cy="1107847"/>
          </a:xfrm>
          <a:prstGeom prst="rect">
            <a:avLst/>
          </a:prstGeom>
        </p:spPr>
      </p:pic>
      <p:pic>
        <p:nvPicPr>
          <p:cNvPr id="48" name="図 47" descr="図形&#10;&#10;中程度の精度で自動的に生成された説明">
            <a:extLst>
              <a:ext uri="{FF2B5EF4-FFF2-40B4-BE49-F238E27FC236}">
                <a16:creationId xmlns:a16="http://schemas.microsoft.com/office/drawing/2014/main" id="{821455CF-8DE2-A798-C8B5-F2F6C722BBB7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865004" y="5890842"/>
            <a:ext cx="1187983" cy="874176"/>
          </a:xfrm>
          <a:prstGeom prst="rect">
            <a:avLst/>
          </a:prstGeom>
        </p:spPr>
      </p:pic>
      <p:pic>
        <p:nvPicPr>
          <p:cNvPr id="50" name="図 49" descr="図形&#10;&#10;低い精度で自動的に生成された説明">
            <a:extLst>
              <a:ext uri="{FF2B5EF4-FFF2-40B4-BE49-F238E27FC236}">
                <a16:creationId xmlns:a16="http://schemas.microsoft.com/office/drawing/2014/main" id="{52DE0157-D4C6-4925-ED7C-7A9F06ED8DE4}"/>
              </a:ext>
            </a:extLst>
      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173611" y="2539333"/>
            <a:ext cx="1367225" cy="1367225"/>
          </a:xfrm>
          <a:prstGeom prst="rect">
            <a:avLst/>
          </a:prstGeom>
        </p:spPr>
      </p:pic>
      <p:pic>
        <p:nvPicPr>
          <p:cNvPr id="52" name="図 51" descr="図形&#10;&#10;中程度の精度で自動的に生成された説明">
            <a:extLst>
              <a:ext uri="{FF2B5EF4-FFF2-40B4-BE49-F238E27FC236}">
                <a16:creationId xmlns:a16="http://schemas.microsoft.com/office/drawing/2014/main" id="{8F4E9212-E330-D5D0-36AB-5A6EB2C59D80}"/>
              </a:ext>
            </a:extLst>
      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204090" y="4052047"/>
            <a:ext cx="1189877" cy="1302882"/>
          </a:xfrm>
          <a:prstGeom prst="rect">
            <a:avLst/>
          </a:prstGeom>
        </p:spPr>
      </p:pic>
      <p:pic>
        <p:nvPicPr>
          <p:cNvPr id="54" name="図 53" descr="図形&#10;&#10;低い精度で自動的に生成された説明">
            <a:extLst>
              <a:ext uri="{FF2B5EF4-FFF2-40B4-BE49-F238E27FC236}">
                <a16:creationId xmlns:a16="http://schemas.microsoft.com/office/drawing/2014/main" id="{896E0539-6D32-B3A1-429F-402CE7BA2942}"/>
              </a:ext>
            </a:extLst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139012" y="5645906"/>
            <a:ext cx="1129544" cy="1129544"/>
          </a:xfrm>
          <a:prstGeom prst="rect">
            <a:avLst/>
          </a:prstGeom>
        </p:spPr>
      </p:pic>
      <p:pic>
        <p:nvPicPr>
          <p:cNvPr id="55" name="図 54" descr="黒い背景と白い文字&#10;&#10;自動的に生成された説明">
            <a:extLst>
              <a:ext uri="{FF2B5EF4-FFF2-40B4-BE49-F238E27FC236}">
                <a16:creationId xmlns:a16="http://schemas.microsoft.com/office/drawing/2014/main" id="{FF6FF546-EDD4-D267-A31E-41D29928EF3D}"/>
              </a:ext>
            </a:extLst>
          </p:cNvPr>
          <p:cNvPicPr>
            <a:picLocks noChangeAspect="1"/>
          </p:cNvPicPr>
          <p:nvPr/>
        </p:nvPicPr>
        <p:blipFill>
          <a:blip r:embed="rId24"/>
          <a:stretch>
            <a:fillRect/>
          </a:stretch>
        </p:blipFill>
        <p:spPr>
          <a:xfrm>
            <a:off x="5409704" y="5645906"/>
            <a:ext cx="1107332" cy="1119112"/>
          </a:xfrm>
          <a:prstGeom prst="rect">
            <a:avLst/>
          </a:prstGeom>
        </p:spPr>
      </p:pic>
      <p:pic>
        <p:nvPicPr>
          <p:cNvPr id="57" name="図 56" descr="図形&#10;&#10;中程度の精度で自動的に生成された説明">
            <a:extLst>
              <a:ext uri="{FF2B5EF4-FFF2-40B4-BE49-F238E27FC236}">
                <a16:creationId xmlns:a16="http://schemas.microsoft.com/office/drawing/2014/main" id="{BD651681-92A4-7780-47FB-BB879B095AC3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2654884" y="4609118"/>
            <a:ext cx="2256828" cy="2248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071319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03BD6076-174F-B314-7114-457F5AFB50B2}"/>
              </a:ext>
            </a:extLst>
          </p:cNvPr>
          <p:cNvSpPr/>
          <p:nvPr/>
        </p:nvSpPr>
        <p:spPr>
          <a:xfrm>
            <a:off x="2468880" y="0"/>
            <a:ext cx="9723120" cy="6858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A45EBDC-326E-2B0B-88C0-094F592629DC}"/>
              </a:ext>
            </a:extLst>
          </p:cNvPr>
          <p:cNvSpPr txBox="1"/>
          <p:nvPr/>
        </p:nvSpPr>
        <p:spPr>
          <a:xfrm>
            <a:off x="2918014" y="2151727"/>
            <a:ext cx="8824852" cy="255454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ja-JP" sz="8000" b="1" spc="300" dirty="0">
                <a:solidFill>
                  <a:schemeClr val="bg1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2. </a:t>
            </a:r>
            <a:r>
              <a:rPr kumimoji="1" lang="ja-JP" altLang="en-US" sz="8000" b="1" spc="300">
                <a:solidFill>
                  <a:schemeClr val="bg1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既存アプリの</a:t>
            </a:r>
            <a:endParaRPr kumimoji="1" lang="en-US" altLang="ja-JP" sz="8000" b="1" spc="300" dirty="0">
              <a:solidFill>
                <a:schemeClr val="bg1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  <a:p>
            <a:r>
              <a:rPr kumimoji="1" lang="ja-JP" altLang="en-US" sz="8000" b="1" spc="300">
                <a:solidFill>
                  <a:schemeClr val="bg1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　　調査と差別化</a:t>
            </a:r>
            <a:endParaRPr kumimoji="1" lang="ja-JP" altLang="en-US" sz="4800" b="1" spc="300">
              <a:solidFill>
                <a:schemeClr val="bg1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9920138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dirty="0"/>
          </a:p>
        </p:txBody>
      </p:sp>
      <p:sp>
        <p:nvSpPr>
          <p:cNvPr id="11" name="topbar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2" name="lstrip"/>
          <p:cNvSpPr/>
          <p:nvPr/>
        </p:nvSpPr>
        <p:spPr>
          <a:xfrm>
            <a:off x="0" y="1143000"/>
            <a:ext cx="18000" cy="5715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13" name="section_lbl"/>
          <p:cNvSpPr txBox="1"/>
          <p:nvPr/>
        </p:nvSpPr>
        <p:spPr>
          <a:xfrm>
            <a:off x="10692000" y="80000"/>
            <a:ext cx="1400000" cy="50000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r"/>
            <a:r>
              <a:rPr lang="ja-JP" altLang="en-US" sz="1400" dirty="0">
                <a:solidFill>
                  <a:srgbClr val="1A1A1A"/>
                </a:solidFill>
                <a:latin typeface="Meiryo"/>
                <a:ea typeface="Meiryo"/>
              </a:rPr>
              <a:t>Section 02</a:t>
            </a:r>
          </a:p>
        </p:txBody>
      </p:sp>
      <p:sp>
        <p:nvSpPr>
          <p:cNvPr id="14" name="title_txt"/>
          <p:cNvSpPr txBox="1"/>
          <p:nvPr/>
        </p:nvSpPr>
        <p:spPr>
          <a:xfrm>
            <a:off x="376932" y="226057"/>
            <a:ext cx="5485332" cy="70788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ja-JP" altLang="en-US" sz="4000" b="1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既存サービスとの比較</a:t>
            </a:r>
          </a:p>
        </p:txBody>
      </p:sp>
      <p:sp>
        <p:nvSpPr>
          <p:cNvPr id="20" name="cell00"/>
          <p:cNvSpPr/>
          <p:nvPr/>
        </p:nvSpPr>
        <p:spPr>
          <a:xfrm>
            <a:off x="234177" y="1444602"/>
            <a:ext cx="5200000" cy="62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5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機能</a:t>
            </a:r>
          </a:p>
        </p:txBody>
      </p:sp>
      <p:sp>
        <p:nvSpPr>
          <p:cNvPr id="21" name="cell01"/>
          <p:cNvSpPr/>
          <p:nvPr/>
        </p:nvSpPr>
        <p:spPr>
          <a:xfrm>
            <a:off x="5474177" y="1444602"/>
            <a:ext cx="2800000" cy="62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500" b="1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既存同人誌管理アプリ</a:t>
            </a:r>
            <a:r>
              <a:rPr lang="en-US" altLang="ja-JP" sz="15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B</a:t>
            </a:r>
            <a:endParaRPr lang="ja-JP" altLang="en-US" sz="1500" b="1" dirty="0">
              <a:solidFill>
                <a:srgbClr val="FFFFFF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22" name="cell02"/>
          <p:cNvSpPr/>
          <p:nvPr/>
        </p:nvSpPr>
        <p:spPr>
          <a:xfrm>
            <a:off x="8314177" y="1444602"/>
            <a:ext cx="3700000" cy="62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500" b="1">
                <a:solidFill>
                  <a:srgbClr val="FFFFFF"/>
                </a:solidFill>
                <a:latin typeface="Reggae One" pitchFamily="2" charset="-128"/>
                <a:ea typeface="Reggae One" pitchFamily="2" charset="-128"/>
              </a:rPr>
              <a:t>同人＋＋</a:t>
            </a:r>
            <a:endParaRPr lang="ja-JP" altLang="en-US" sz="1500" b="1" dirty="0">
              <a:solidFill>
                <a:srgbClr val="FFFFFF"/>
              </a:solidFill>
              <a:latin typeface="Reggae One" pitchFamily="2" charset="-128"/>
              <a:ea typeface="Reggae One" pitchFamily="2" charset="-128"/>
            </a:endParaRPr>
          </a:p>
        </p:txBody>
      </p:sp>
      <p:sp>
        <p:nvSpPr>
          <p:cNvPr id="23" name="cell10"/>
          <p:cNvSpPr/>
          <p:nvPr/>
        </p:nvSpPr>
        <p:spPr>
          <a:xfrm>
            <a:off x="234177" y="2084602"/>
            <a:ext cx="5200000" cy="6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2000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対象フェーズ</a:t>
            </a:r>
            <a:endParaRPr lang="ja-JP" altLang="en-US" sz="2800" dirty="0">
              <a:solidFill>
                <a:srgbClr val="1A1A1A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24" name="cell11"/>
          <p:cNvSpPr/>
          <p:nvPr/>
        </p:nvSpPr>
        <p:spPr>
          <a:xfrm>
            <a:off x="5474177" y="2084602"/>
            <a:ext cx="2800000" cy="62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2000" dirty="0">
                <a:solidFill>
                  <a:srgbClr val="666666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購入後のみ</a:t>
            </a:r>
          </a:p>
        </p:txBody>
      </p:sp>
      <p:sp>
        <p:nvSpPr>
          <p:cNvPr id="25" name="cell12"/>
          <p:cNvSpPr/>
          <p:nvPr/>
        </p:nvSpPr>
        <p:spPr>
          <a:xfrm>
            <a:off x="8314177" y="2084602"/>
            <a:ext cx="3700000" cy="620000"/>
          </a:xfrm>
          <a:prstGeom prst="rect">
            <a:avLst/>
          </a:prstGeom>
          <a:solidFill>
            <a:srgbClr val="FFFDE7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2000" dirty="0">
                <a:solidFill>
                  <a:srgbClr val="E65100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購入前〜購入後</a:t>
            </a:r>
          </a:p>
        </p:txBody>
      </p:sp>
      <p:sp>
        <p:nvSpPr>
          <p:cNvPr id="26" name="cell20"/>
          <p:cNvSpPr/>
          <p:nvPr/>
        </p:nvSpPr>
        <p:spPr>
          <a:xfrm>
            <a:off x="234177" y="2724602"/>
            <a:ext cx="5200000" cy="6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200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同人活動サポート</a:t>
            </a:r>
            <a:endParaRPr lang="ja-JP" altLang="en-US" sz="2000" dirty="0">
              <a:solidFill>
                <a:srgbClr val="1A1A1A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27" name="cell21"/>
          <p:cNvSpPr/>
          <p:nvPr/>
        </p:nvSpPr>
        <p:spPr>
          <a:xfrm>
            <a:off x="5474177" y="2724602"/>
            <a:ext cx="2800000" cy="62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2400" dirty="0">
                <a:solidFill>
                  <a:srgbClr val="666666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❌</a:t>
            </a:r>
          </a:p>
        </p:txBody>
      </p:sp>
      <p:sp>
        <p:nvSpPr>
          <p:cNvPr id="28" name="cell22"/>
          <p:cNvSpPr/>
          <p:nvPr/>
        </p:nvSpPr>
        <p:spPr>
          <a:xfrm>
            <a:off x="8314177" y="2724602"/>
            <a:ext cx="3700000" cy="620000"/>
          </a:xfrm>
          <a:prstGeom prst="rect">
            <a:avLst/>
          </a:prstGeom>
          <a:solidFill>
            <a:srgbClr val="FFFDE7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3200" b="1">
                <a:solidFill>
                  <a:srgbClr val="E65100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◯</a:t>
            </a:r>
            <a:endParaRPr lang="ja-JP" altLang="en-US" sz="3600" b="1" dirty="0">
              <a:solidFill>
                <a:srgbClr val="E65100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32" name="cell40"/>
          <p:cNvSpPr/>
          <p:nvPr/>
        </p:nvSpPr>
        <p:spPr>
          <a:xfrm>
            <a:off x="234177" y="3388381"/>
            <a:ext cx="5200000" cy="6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2000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蔵書管理（同人誌特化）</a:t>
            </a:r>
          </a:p>
        </p:txBody>
      </p:sp>
      <p:sp>
        <p:nvSpPr>
          <p:cNvPr id="33" name="cell41"/>
          <p:cNvSpPr/>
          <p:nvPr/>
        </p:nvSpPr>
        <p:spPr>
          <a:xfrm>
            <a:off x="5474177" y="3388381"/>
            <a:ext cx="2800000" cy="62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rtlCol="0" anchor="ctr">
            <a:normAutofit fontScale="77500" lnSpcReduction="20000"/>
          </a:bodyPr>
          <a:lstStyle/>
          <a:p>
            <a:pPr algn="ctr">
              <a:lnSpc>
                <a:spcPct val="120000"/>
              </a:lnSpc>
            </a:pPr>
            <a:r>
              <a:rPr lang="ja-JP" altLang="en-US" sz="4300">
                <a:solidFill>
                  <a:srgbClr val="666666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◎</a:t>
            </a:r>
            <a:endParaRPr lang="ja-JP" altLang="en-US" sz="4000" dirty="0">
              <a:solidFill>
                <a:srgbClr val="666666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34" name="cell42"/>
          <p:cNvSpPr/>
          <p:nvPr/>
        </p:nvSpPr>
        <p:spPr>
          <a:xfrm>
            <a:off x="8314177" y="3388381"/>
            <a:ext cx="3700000" cy="620000"/>
          </a:xfrm>
          <a:prstGeom prst="rect">
            <a:avLst/>
          </a:prstGeom>
          <a:solidFill>
            <a:srgbClr val="FFFDE7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3200" b="1">
                <a:solidFill>
                  <a:srgbClr val="E65100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◯</a:t>
            </a:r>
            <a:endParaRPr lang="ja-JP" altLang="en-US" sz="2800" b="1" dirty="0">
              <a:solidFill>
                <a:srgbClr val="E65100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41" name="cell70"/>
          <p:cNvSpPr/>
          <p:nvPr/>
        </p:nvSpPr>
        <p:spPr>
          <a:xfrm>
            <a:off x="234177" y="4056046"/>
            <a:ext cx="5200000" cy="62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200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アプリケーション</a:t>
            </a:r>
            <a:endParaRPr lang="ja-JP" altLang="en-US" sz="2000" dirty="0">
              <a:solidFill>
                <a:srgbClr val="1A1A1A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42" name="cell71"/>
          <p:cNvSpPr/>
          <p:nvPr/>
        </p:nvSpPr>
        <p:spPr>
          <a:xfrm>
            <a:off x="5474177" y="4056046"/>
            <a:ext cx="2800000" cy="620000"/>
          </a:xfrm>
          <a:prstGeom prst="rect">
            <a:avLst/>
          </a:prstGeom>
          <a:solidFill>
            <a:srgbClr val="FAFAFA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>
                <a:solidFill>
                  <a:srgbClr val="666666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スマホアプリ</a:t>
            </a:r>
            <a:endParaRPr lang="ja-JP" altLang="en-US" sz="1400" dirty="0">
              <a:solidFill>
                <a:srgbClr val="666666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43" name="cell72"/>
          <p:cNvSpPr/>
          <p:nvPr/>
        </p:nvSpPr>
        <p:spPr>
          <a:xfrm>
            <a:off x="8314177" y="4056046"/>
            <a:ext cx="3700000" cy="620000"/>
          </a:xfrm>
          <a:prstGeom prst="rect">
            <a:avLst/>
          </a:prstGeom>
          <a:solidFill>
            <a:srgbClr val="FFFDE7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b="1">
                <a:solidFill>
                  <a:srgbClr val="E65100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PWA</a:t>
            </a:r>
            <a:endParaRPr lang="ja-JP" altLang="en-US" b="1" dirty="0">
              <a:solidFill>
                <a:srgbClr val="E65100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2" name="title_txt">
            <a:extLst>
              <a:ext uri="{FF2B5EF4-FFF2-40B4-BE49-F238E27FC236}">
                <a16:creationId xmlns:a16="http://schemas.microsoft.com/office/drawing/2014/main" id="{F39982B0-B7CB-BDC9-FF11-09BE16A9290B}"/>
              </a:ext>
            </a:extLst>
          </p:cNvPr>
          <p:cNvSpPr txBox="1"/>
          <p:nvPr/>
        </p:nvSpPr>
        <p:spPr>
          <a:xfrm>
            <a:off x="598565" y="5059137"/>
            <a:ext cx="11012870" cy="83099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ja-JP" altLang="en-US" sz="40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→</a:t>
            </a:r>
            <a:r>
              <a:rPr lang="ja-JP" altLang="en-US" sz="48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「購入」</a:t>
            </a:r>
            <a:r>
              <a:rPr lang="ja-JP" altLang="en-US" sz="40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と</a:t>
            </a:r>
            <a:r>
              <a:rPr lang="ja-JP" altLang="en-US" sz="48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「管理」</a:t>
            </a:r>
            <a:r>
              <a:rPr lang="ja-JP" altLang="en-US" sz="40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のパイプラインが</a:t>
            </a:r>
            <a:endParaRPr lang="ja-JP" altLang="en-US" sz="4000" b="1" dirty="0">
              <a:solidFill>
                <a:srgbClr val="1A1A1A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3" name="title_txt">
            <a:extLst>
              <a:ext uri="{FF2B5EF4-FFF2-40B4-BE49-F238E27FC236}">
                <a16:creationId xmlns:a16="http://schemas.microsoft.com/office/drawing/2014/main" id="{B4EA9B1F-5F67-E6FF-37DA-B34CF7528C03}"/>
              </a:ext>
            </a:extLst>
          </p:cNvPr>
          <p:cNvSpPr txBox="1"/>
          <p:nvPr/>
        </p:nvSpPr>
        <p:spPr>
          <a:xfrm>
            <a:off x="589565" y="5893005"/>
            <a:ext cx="11012870" cy="83099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ja-JP" altLang="en-US" sz="4800" b="1">
                <a:solidFill>
                  <a:srgbClr val="FF0000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差別化要素となる！</a:t>
            </a:r>
            <a:endParaRPr lang="ja-JP" altLang="en-US" sz="4800" b="1" dirty="0">
              <a:solidFill>
                <a:srgbClr val="FF0000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ja-JP" altLang="en-US" dirty="0"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5" name="ホームベース 4">
            <a:extLst>
              <a:ext uri="{FF2B5EF4-FFF2-40B4-BE49-F238E27FC236}">
                <a16:creationId xmlns:a16="http://schemas.microsoft.com/office/drawing/2014/main" id="{02303271-BC48-3896-A8E7-84829B7B621E}"/>
              </a:ext>
            </a:extLst>
          </p:cNvPr>
          <p:cNvSpPr/>
          <p:nvPr/>
        </p:nvSpPr>
        <p:spPr>
          <a:xfrm>
            <a:off x="472102" y="3712464"/>
            <a:ext cx="11719898" cy="2907365"/>
          </a:xfrm>
          <a:prstGeom prst="homePlate">
            <a:avLst/>
          </a:prstGeom>
          <a:gradFill flip="none" rotWithShape="1">
            <a:gsLst>
              <a:gs pos="50000">
                <a:srgbClr val="E2D059"/>
              </a:gs>
              <a:gs pos="0">
                <a:srgbClr val="DFD850">
                  <a:alpha val="61000"/>
                </a:srgbClr>
              </a:gs>
              <a:gs pos="99000">
                <a:schemeClr val="accent2">
                  <a:lumMod val="60000"/>
                  <a:lumOff val="40000"/>
                </a:scheme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topbar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2" name="lstrip"/>
          <p:cNvSpPr/>
          <p:nvPr/>
        </p:nvSpPr>
        <p:spPr>
          <a:xfrm>
            <a:off x="0" y="1143000"/>
            <a:ext cx="18000" cy="5715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3" name="section_lbl"/>
          <p:cNvSpPr txBox="1"/>
          <p:nvPr/>
        </p:nvSpPr>
        <p:spPr>
          <a:xfrm>
            <a:off x="10692000" y="80000"/>
            <a:ext cx="1400000" cy="3077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r"/>
            <a:r>
              <a:rPr lang="ja-JP" altLang="en-US" sz="1400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Section 02</a:t>
            </a:r>
          </a:p>
        </p:txBody>
      </p:sp>
      <p:sp>
        <p:nvSpPr>
          <p:cNvPr id="14" name="title_txt"/>
          <p:cNvSpPr txBox="1"/>
          <p:nvPr/>
        </p:nvSpPr>
        <p:spPr>
          <a:xfrm>
            <a:off x="457200" y="238171"/>
            <a:ext cx="9777600" cy="70788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ja-JP" altLang="en-US" sz="4000" b="1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市場ポテンシャル</a:t>
            </a:r>
          </a:p>
        </p:txBody>
      </p:sp>
      <p:sp>
        <p:nvSpPr>
          <p:cNvPr id="20" name="num0"/>
          <p:cNvSpPr/>
          <p:nvPr/>
        </p:nvSpPr>
        <p:spPr>
          <a:xfrm>
            <a:off x="457200" y="1450000"/>
            <a:ext cx="2774400" cy="1100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2600" b="1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15〜20万人</a:t>
            </a:r>
          </a:p>
        </p:txBody>
      </p:sp>
      <p:sp>
        <p:nvSpPr>
          <p:cNvPr id="21" name="lbl0"/>
          <p:cNvSpPr/>
          <p:nvPr/>
        </p:nvSpPr>
        <p:spPr>
          <a:xfrm>
            <a:off x="457200" y="2650000"/>
            <a:ext cx="2774400" cy="70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4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コミケ1回あたりの動員数</a:t>
            </a:r>
          </a:p>
        </p:txBody>
      </p:sp>
      <p:sp>
        <p:nvSpPr>
          <p:cNvPr id="22" name="num1"/>
          <p:cNvSpPr/>
          <p:nvPr/>
        </p:nvSpPr>
        <p:spPr>
          <a:xfrm>
            <a:off x="3291600" y="1450000"/>
            <a:ext cx="2774400" cy="1100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2600" b="1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数百〜千以上</a:t>
            </a:r>
          </a:p>
        </p:txBody>
      </p:sp>
      <p:sp>
        <p:nvSpPr>
          <p:cNvPr id="23" name="lbl1"/>
          <p:cNvSpPr/>
          <p:nvPr/>
        </p:nvSpPr>
        <p:spPr>
          <a:xfrm>
            <a:off x="3291600" y="2650000"/>
            <a:ext cx="2774400" cy="70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4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全国年間即売会開催数</a:t>
            </a:r>
          </a:p>
        </p:txBody>
      </p:sp>
      <p:sp>
        <p:nvSpPr>
          <p:cNvPr id="24" name="num2"/>
          <p:cNvSpPr/>
          <p:nvPr/>
        </p:nvSpPr>
        <p:spPr>
          <a:xfrm>
            <a:off x="6126000" y="1450000"/>
            <a:ext cx="2774400" cy="1100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26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週1</a:t>
            </a:r>
            <a:r>
              <a:rPr lang="ja-JP" altLang="en-US" sz="2600" b="1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〜複数回</a:t>
            </a:r>
          </a:p>
        </p:txBody>
      </p:sp>
      <p:sp>
        <p:nvSpPr>
          <p:cNvPr id="25" name="lbl2"/>
          <p:cNvSpPr/>
          <p:nvPr/>
        </p:nvSpPr>
        <p:spPr>
          <a:xfrm>
            <a:off x="6126000" y="2650000"/>
            <a:ext cx="2774400" cy="70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4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ユーザーの</a:t>
            </a:r>
            <a:r>
              <a:rPr lang="ja-JP" altLang="en-US" sz="1400" b="1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利用頻度</a:t>
            </a:r>
            <a:endParaRPr lang="en-US" altLang="ja-JP" sz="1400" b="1" dirty="0">
              <a:solidFill>
                <a:srgbClr val="FFFFFF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  <a:p>
            <a:pPr algn="ctr"/>
            <a:r>
              <a:rPr lang="ja-JP" altLang="en-US" sz="1400" b="1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（</a:t>
            </a:r>
            <a:r>
              <a:rPr lang="ja-JP" altLang="en-US" sz="14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高継続率）</a:t>
            </a:r>
          </a:p>
        </p:txBody>
      </p:sp>
      <p:sp>
        <p:nvSpPr>
          <p:cNvPr id="26" name="num3"/>
          <p:cNvSpPr/>
          <p:nvPr/>
        </p:nvSpPr>
        <p:spPr>
          <a:xfrm>
            <a:off x="8960400" y="1450000"/>
            <a:ext cx="2774400" cy="1100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26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ゼロ</a:t>
            </a:r>
            <a:endParaRPr lang="ja-JP" altLang="en-US" sz="2600" b="1" dirty="0">
              <a:solidFill>
                <a:srgbClr val="1A1A1A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27" name="lbl3"/>
          <p:cNvSpPr/>
          <p:nvPr/>
        </p:nvSpPr>
        <p:spPr>
          <a:xfrm>
            <a:off x="8960400" y="2650000"/>
            <a:ext cx="2774400" cy="70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4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直接競合（先行者優位）</a:t>
            </a:r>
          </a:p>
        </p:txBody>
      </p:sp>
      <p:sp>
        <p:nvSpPr>
          <p:cNvPr id="40" name="ctx"/>
          <p:cNvSpPr txBox="1"/>
          <p:nvPr/>
        </p:nvSpPr>
        <p:spPr>
          <a:xfrm>
            <a:off x="457200" y="3849840"/>
            <a:ext cx="5536800" cy="2769989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ja-JP" altLang="en-US" sz="32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コミケ</a:t>
            </a:r>
            <a:r>
              <a:rPr lang="ja-JP" altLang="en-US" sz="320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・コミティア</a:t>
            </a:r>
            <a:endParaRPr lang="en-US" altLang="ja-JP" sz="3200" dirty="0">
              <a:solidFill>
                <a:srgbClr val="2D2D2D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  <a:p>
            <a:r>
              <a:rPr lang="ja-JP" altLang="en-US" sz="320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文学フリマ・技術書博覧会</a:t>
            </a:r>
            <a:endParaRPr lang="en-US" altLang="ja-JP" sz="3200" dirty="0">
              <a:solidFill>
                <a:srgbClr val="2D2D2D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  <a:p>
            <a:r>
              <a:rPr lang="ja-JP" altLang="en-US" sz="320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↓</a:t>
            </a:r>
            <a:endParaRPr lang="en-US" altLang="ja-JP" sz="3200" dirty="0">
              <a:solidFill>
                <a:srgbClr val="2D2D2D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  <a:p>
            <a:r>
              <a:rPr lang="ja-JP" altLang="en-US" sz="320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国内</a:t>
            </a:r>
            <a:r>
              <a:rPr lang="ja-JP" altLang="en-US" sz="32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の同人</a:t>
            </a:r>
            <a:r>
              <a:rPr lang="ja-JP" altLang="en-US" sz="320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即売会は</a:t>
            </a:r>
            <a:endParaRPr lang="en-US" altLang="ja-JP" sz="3200" dirty="0">
              <a:solidFill>
                <a:srgbClr val="2D2D2D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  <a:p>
            <a:r>
              <a:rPr lang="ja-JP" altLang="en-US" sz="320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年間</a:t>
            </a:r>
            <a:r>
              <a:rPr lang="ja-JP" altLang="en-US" sz="32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数百〜千回</a:t>
            </a:r>
            <a:r>
              <a:rPr lang="ja-JP" altLang="en-US" sz="320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以上開催！</a:t>
            </a:r>
            <a:endParaRPr lang="ja-JP" altLang="en-US" sz="3200" dirty="0">
              <a:solidFill>
                <a:srgbClr val="2D2D2D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  <a:p>
            <a:endParaRPr sz="1400" dirty="0"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2" name="ctx">
            <a:extLst>
              <a:ext uri="{FF2B5EF4-FFF2-40B4-BE49-F238E27FC236}">
                <a16:creationId xmlns:a16="http://schemas.microsoft.com/office/drawing/2014/main" id="{1D71B20E-3F62-8E93-402A-3E7EBB9555D2}"/>
              </a:ext>
            </a:extLst>
          </p:cNvPr>
          <p:cNvSpPr txBox="1"/>
          <p:nvPr/>
        </p:nvSpPr>
        <p:spPr>
          <a:xfrm>
            <a:off x="6198002" y="3991572"/>
            <a:ext cx="5980176" cy="76944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ja-JP" altLang="en-US" sz="4400" b="1">
                <a:solidFill>
                  <a:srgbClr val="FF0000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ターゲット層が幅広い</a:t>
            </a:r>
            <a:endParaRPr lang="en-US" altLang="ja-JP" sz="4400" b="1" dirty="0">
              <a:solidFill>
                <a:srgbClr val="FF0000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3" name="ctx">
            <a:extLst>
              <a:ext uri="{FF2B5EF4-FFF2-40B4-BE49-F238E27FC236}">
                <a16:creationId xmlns:a16="http://schemas.microsoft.com/office/drawing/2014/main" id="{89D1AEBE-45D3-2626-6595-3ED37E38A2D4}"/>
              </a:ext>
            </a:extLst>
          </p:cNvPr>
          <p:cNvSpPr txBox="1"/>
          <p:nvPr/>
        </p:nvSpPr>
        <p:spPr>
          <a:xfrm>
            <a:off x="6995977" y="5571477"/>
            <a:ext cx="4795920" cy="92333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ja-JP" altLang="en-US" sz="5400" b="1">
                <a:solidFill>
                  <a:srgbClr val="FF0000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継続的な利用</a:t>
            </a:r>
            <a:endParaRPr lang="en-US" altLang="ja-JP" sz="5400" b="1" dirty="0">
              <a:solidFill>
                <a:srgbClr val="FF0000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4" name="ctx">
            <a:extLst>
              <a:ext uri="{FF2B5EF4-FFF2-40B4-BE49-F238E27FC236}">
                <a16:creationId xmlns:a16="http://schemas.microsoft.com/office/drawing/2014/main" id="{66A1D0D0-A85F-087F-777B-D3EEF652781B}"/>
              </a:ext>
            </a:extLst>
          </p:cNvPr>
          <p:cNvSpPr txBox="1"/>
          <p:nvPr/>
        </p:nvSpPr>
        <p:spPr>
          <a:xfrm>
            <a:off x="8726726" y="4691755"/>
            <a:ext cx="922727" cy="1015663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ja-JP" altLang="en-US" sz="6000" b="1">
                <a:solidFill>
                  <a:srgbClr val="FF0000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＋</a:t>
            </a:r>
            <a:endParaRPr lang="en-US" altLang="ja-JP" sz="6000" b="1" dirty="0">
              <a:solidFill>
                <a:srgbClr val="FF0000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03BD6076-174F-B314-7114-457F5AFB50B2}"/>
              </a:ext>
            </a:extLst>
          </p:cNvPr>
          <p:cNvSpPr/>
          <p:nvPr/>
        </p:nvSpPr>
        <p:spPr>
          <a:xfrm>
            <a:off x="0" y="0"/>
            <a:ext cx="9235440" cy="6858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A45EBDC-326E-2B0B-88C0-094F592629DC}"/>
              </a:ext>
            </a:extLst>
          </p:cNvPr>
          <p:cNvSpPr txBox="1"/>
          <p:nvPr/>
        </p:nvSpPr>
        <p:spPr>
          <a:xfrm>
            <a:off x="1418767" y="2705725"/>
            <a:ext cx="6397905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8800" b="1" spc="300" dirty="0">
                <a:solidFill>
                  <a:schemeClr val="bg1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3</a:t>
            </a:r>
            <a:r>
              <a:rPr kumimoji="1" lang="en-US" altLang="ja-JP" sz="8800" b="1" spc="300" dirty="0">
                <a:solidFill>
                  <a:schemeClr val="bg1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.</a:t>
            </a:r>
            <a:r>
              <a:rPr kumimoji="1" lang="ja-JP" altLang="en-US" sz="8800" b="1" spc="300">
                <a:solidFill>
                  <a:schemeClr val="bg1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 機能一覧</a:t>
            </a:r>
            <a:endParaRPr kumimoji="1" lang="ja-JP" altLang="en-US" sz="5400" b="1" spc="300">
              <a:solidFill>
                <a:schemeClr val="bg1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34712602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g"/>
          <p:cNvSpPr/>
          <p:nvPr/>
        </p:nvSpPr>
        <p:spPr>
          <a:xfrm>
            <a:off x="35236" y="387777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dirty="0"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1" name="topbar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2" name="lstrip"/>
          <p:cNvSpPr/>
          <p:nvPr/>
        </p:nvSpPr>
        <p:spPr>
          <a:xfrm>
            <a:off x="0" y="1143000"/>
            <a:ext cx="18000" cy="5715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3" name="section_lbl"/>
          <p:cNvSpPr txBox="1"/>
          <p:nvPr/>
        </p:nvSpPr>
        <p:spPr>
          <a:xfrm>
            <a:off x="10692000" y="80000"/>
            <a:ext cx="1400000" cy="3077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r"/>
            <a:r>
              <a:rPr lang="ja-JP" altLang="en-US" sz="1400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Section 03</a:t>
            </a:r>
          </a:p>
        </p:txBody>
      </p:sp>
      <p:sp>
        <p:nvSpPr>
          <p:cNvPr id="14" name="title_txt"/>
          <p:cNvSpPr txBox="1"/>
          <p:nvPr/>
        </p:nvSpPr>
        <p:spPr>
          <a:xfrm>
            <a:off x="457200" y="248334"/>
            <a:ext cx="9777600" cy="64633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ja-JP" altLang="en-US" sz="36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① 蔵書管理機能</a:t>
            </a:r>
            <a:endParaRPr lang="ja-JP" altLang="en-US" sz="3600" b="1" dirty="0">
              <a:solidFill>
                <a:srgbClr val="1A1A1A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pic>
        <p:nvPicPr>
          <p:cNvPr id="4" name="図 3" descr="携帯電話の画面のスクリーンショット&#10;&#10;自動的に生成された説明">
            <a:extLst>
              <a:ext uri="{FF2B5EF4-FFF2-40B4-BE49-F238E27FC236}">
                <a16:creationId xmlns:a16="http://schemas.microsoft.com/office/drawing/2014/main" id="{1B22A40F-243D-2FE8-2864-5E47E845DFB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5690" t="5976" r="5936" b="407"/>
          <a:stretch/>
        </p:blipFill>
        <p:spPr>
          <a:xfrm>
            <a:off x="1235703" y="1142999"/>
            <a:ext cx="4479297" cy="5715001"/>
          </a:xfrm>
          <a:prstGeom prst="rect">
            <a:avLst/>
          </a:prstGeom>
        </p:spPr>
      </p:pic>
      <p:pic>
        <p:nvPicPr>
          <p:cNvPr id="6" name="図 5" descr="テレビゲームの画面のスクリーンショット&#10;&#10;低い精度で自動的に生成された説明">
            <a:extLst>
              <a:ext uri="{FF2B5EF4-FFF2-40B4-BE49-F238E27FC236}">
                <a16:creationId xmlns:a16="http://schemas.microsoft.com/office/drawing/2014/main" id="{2E13C068-D29F-7414-2D85-FE68FE1318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87521" y="1142999"/>
            <a:ext cx="3643223" cy="5734830"/>
          </a:xfrm>
          <a:prstGeom prst="rect">
            <a:avLst/>
          </a:prstGeom>
        </p:spPr>
      </p:pic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ABDD6476-0721-7287-8693-64CDB2D198CA}"/>
              </a:ext>
            </a:extLst>
          </p:cNvPr>
          <p:cNvSpPr/>
          <p:nvPr/>
        </p:nvSpPr>
        <p:spPr>
          <a:xfrm>
            <a:off x="1235703" y="1684410"/>
            <a:ext cx="4425297" cy="5102165"/>
          </a:xfrm>
          <a:prstGeom prst="rect">
            <a:avLst/>
          </a:prstGeom>
          <a:noFill/>
          <a:ln w="76200">
            <a:solidFill>
              <a:srgbClr val="F3CA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フローチャート: 端子 7">
            <a:extLst>
              <a:ext uri="{FF2B5EF4-FFF2-40B4-BE49-F238E27FC236}">
                <a16:creationId xmlns:a16="http://schemas.microsoft.com/office/drawing/2014/main" id="{701DF524-81D1-AFEC-9BF9-37471CBC045D}"/>
              </a:ext>
            </a:extLst>
          </p:cNvPr>
          <p:cNvSpPr/>
          <p:nvPr/>
        </p:nvSpPr>
        <p:spPr>
          <a:xfrm>
            <a:off x="2537956" y="1319908"/>
            <a:ext cx="1874789" cy="586154"/>
          </a:xfrm>
          <a:prstGeom prst="flowChartTerminator">
            <a:avLst/>
          </a:prstGeom>
          <a:solidFill>
            <a:srgbClr val="F3C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8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蔵書追加機能</a:t>
            </a: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A0F2AC6D-4D53-6D04-3AA5-C4F8206211AF}"/>
              </a:ext>
            </a:extLst>
          </p:cNvPr>
          <p:cNvSpPr/>
          <p:nvPr/>
        </p:nvSpPr>
        <p:spPr>
          <a:xfrm>
            <a:off x="7487521" y="1371504"/>
            <a:ext cx="3643223" cy="5486495"/>
          </a:xfrm>
          <a:prstGeom prst="rect">
            <a:avLst/>
          </a:prstGeom>
          <a:noFill/>
          <a:ln w="76200">
            <a:solidFill>
              <a:srgbClr val="F3CA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フローチャート: 端子 14">
            <a:extLst>
              <a:ext uri="{FF2B5EF4-FFF2-40B4-BE49-F238E27FC236}">
                <a16:creationId xmlns:a16="http://schemas.microsoft.com/office/drawing/2014/main" id="{FBDF6F79-E50D-308A-2C86-E518F6589643}"/>
              </a:ext>
            </a:extLst>
          </p:cNvPr>
          <p:cNvSpPr/>
          <p:nvPr/>
        </p:nvSpPr>
        <p:spPr>
          <a:xfrm>
            <a:off x="8481306" y="1150021"/>
            <a:ext cx="1838183" cy="380553"/>
          </a:xfrm>
          <a:prstGeom prst="flowChartTerminator">
            <a:avLst/>
          </a:prstGeom>
          <a:solidFill>
            <a:srgbClr val="F3C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8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蔵書追加機能</a:t>
            </a:r>
          </a:p>
        </p:txBody>
      </p: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62E37A90-D548-D06D-C18C-4EE0DF695E77}"/>
              </a:ext>
            </a:extLst>
          </p:cNvPr>
          <p:cNvGrpSpPr/>
          <p:nvPr/>
        </p:nvGrpSpPr>
        <p:grpSpPr>
          <a:xfrm rot="17348349">
            <a:off x="386725" y="2226699"/>
            <a:ext cx="1035069" cy="961446"/>
            <a:chOff x="2749697" y="2884788"/>
            <a:chExt cx="1035069" cy="961446"/>
          </a:xfrm>
        </p:grpSpPr>
        <p:cxnSp>
          <p:nvCxnSpPr>
            <p:cNvPr id="17" name="直線コネクタ 16">
              <a:extLst>
                <a:ext uri="{FF2B5EF4-FFF2-40B4-BE49-F238E27FC236}">
                  <a16:creationId xmlns:a16="http://schemas.microsoft.com/office/drawing/2014/main" id="{AEB82967-4014-B59C-458B-C1DE84987106}"/>
                </a:ext>
              </a:extLst>
            </p:cNvPr>
            <p:cNvCxnSpPr>
              <a:cxnSpLocks/>
            </p:cNvCxnSpPr>
            <p:nvPr/>
          </p:nvCxnSpPr>
          <p:spPr>
            <a:xfrm rot="4251651" flipV="1">
              <a:off x="2684915" y="2949570"/>
              <a:ext cx="961446" cy="831881"/>
            </a:xfrm>
            <a:prstGeom prst="line">
              <a:avLst/>
            </a:prstGeom>
            <a:ln w="53975">
              <a:solidFill>
                <a:srgbClr val="F3CA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8" name="円/楕円 17">
              <a:extLst>
                <a:ext uri="{FF2B5EF4-FFF2-40B4-BE49-F238E27FC236}">
                  <a16:creationId xmlns:a16="http://schemas.microsoft.com/office/drawing/2014/main" id="{E84E0B26-0E5A-3BBB-0856-10CF52484D2E}"/>
                </a:ext>
              </a:extLst>
            </p:cNvPr>
            <p:cNvSpPr/>
            <p:nvPr/>
          </p:nvSpPr>
          <p:spPr>
            <a:xfrm>
              <a:off x="3622766" y="3596639"/>
              <a:ext cx="162000" cy="162000"/>
            </a:xfrm>
            <a:prstGeom prst="ellipse">
              <a:avLst/>
            </a:prstGeom>
            <a:solidFill>
              <a:srgbClr val="F3C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9" name="フローチャート: 端子 18">
            <a:extLst>
              <a:ext uri="{FF2B5EF4-FFF2-40B4-BE49-F238E27FC236}">
                <a16:creationId xmlns:a16="http://schemas.microsoft.com/office/drawing/2014/main" id="{8AF67BC9-05B5-D514-BB75-8D22BAABB449}"/>
              </a:ext>
            </a:extLst>
          </p:cNvPr>
          <p:cNvSpPr/>
          <p:nvPr/>
        </p:nvSpPr>
        <p:spPr>
          <a:xfrm>
            <a:off x="-42920" y="2997688"/>
            <a:ext cx="1317956" cy="586154"/>
          </a:xfrm>
          <a:prstGeom prst="flowChartTerminator">
            <a:avLst/>
          </a:prstGeom>
          <a:solidFill>
            <a:srgbClr val="F3C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蔵書種別</a:t>
            </a:r>
            <a:endParaRPr lang="en-US" altLang="ja-JP" b="1" dirty="0">
              <a:solidFill>
                <a:srgbClr val="1A1A1A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  <a:p>
            <a:pPr algn="ctr"/>
            <a:r>
              <a:rPr lang="ja-JP" altLang="en-US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切り替え</a:t>
            </a:r>
            <a:endParaRPr lang="ja-JP" altLang="en-US" sz="1800" b="1">
              <a:solidFill>
                <a:srgbClr val="1A1A1A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A815B210-F7B7-4E43-3D14-177BF7D530B3}"/>
              </a:ext>
            </a:extLst>
          </p:cNvPr>
          <p:cNvGrpSpPr/>
          <p:nvPr/>
        </p:nvGrpSpPr>
        <p:grpSpPr>
          <a:xfrm rot="11162003">
            <a:off x="5394272" y="4512930"/>
            <a:ext cx="1035069" cy="961446"/>
            <a:chOff x="2749697" y="2884788"/>
            <a:chExt cx="1035069" cy="961446"/>
          </a:xfrm>
        </p:grpSpPr>
        <p:cxnSp>
          <p:nvCxnSpPr>
            <p:cNvPr id="29" name="直線コネクタ 28">
              <a:extLst>
                <a:ext uri="{FF2B5EF4-FFF2-40B4-BE49-F238E27FC236}">
                  <a16:creationId xmlns:a16="http://schemas.microsoft.com/office/drawing/2014/main" id="{242D3C54-9229-5853-2A4D-8779770B7A6B}"/>
                </a:ext>
              </a:extLst>
            </p:cNvPr>
            <p:cNvCxnSpPr>
              <a:cxnSpLocks/>
            </p:cNvCxnSpPr>
            <p:nvPr/>
          </p:nvCxnSpPr>
          <p:spPr>
            <a:xfrm rot="4251651" flipV="1">
              <a:off x="2684915" y="2949570"/>
              <a:ext cx="961446" cy="831881"/>
            </a:xfrm>
            <a:prstGeom prst="line">
              <a:avLst/>
            </a:prstGeom>
            <a:ln w="53975">
              <a:solidFill>
                <a:srgbClr val="F3CA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0" name="円/楕円 29">
              <a:extLst>
                <a:ext uri="{FF2B5EF4-FFF2-40B4-BE49-F238E27FC236}">
                  <a16:creationId xmlns:a16="http://schemas.microsoft.com/office/drawing/2014/main" id="{F925D977-6BBF-42ED-AB67-25A09596AB99}"/>
                </a:ext>
              </a:extLst>
            </p:cNvPr>
            <p:cNvSpPr/>
            <p:nvPr/>
          </p:nvSpPr>
          <p:spPr>
            <a:xfrm>
              <a:off x="3622766" y="3596639"/>
              <a:ext cx="162000" cy="162000"/>
            </a:xfrm>
            <a:prstGeom prst="ellipse">
              <a:avLst/>
            </a:prstGeom>
            <a:solidFill>
              <a:srgbClr val="F3C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1" name="フローチャート: 端子 30">
            <a:extLst>
              <a:ext uri="{FF2B5EF4-FFF2-40B4-BE49-F238E27FC236}">
                <a16:creationId xmlns:a16="http://schemas.microsoft.com/office/drawing/2014/main" id="{45C10E57-6406-A972-90DA-20C73EE1ECC6}"/>
              </a:ext>
            </a:extLst>
          </p:cNvPr>
          <p:cNvSpPr/>
          <p:nvPr/>
        </p:nvSpPr>
        <p:spPr>
          <a:xfrm>
            <a:off x="5785647" y="5120137"/>
            <a:ext cx="1517073" cy="586154"/>
          </a:xfrm>
          <a:prstGeom prst="flowChartTerminator">
            <a:avLst/>
          </a:prstGeom>
          <a:solidFill>
            <a:srgbClr val="F3C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8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バーコード</a:t>
            </a:r>
            <a:endParaRPr lang="en-US" altLang="ja-JP" sz="1800" b="1" dirty="0">
              <a:solidFill>
                <a:srgbClr val="1A1A1A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  <a:p>
            <a:pPr algn="ctr"/>
            <a:r>
              <a:rPr lang="ja-JP" altLang="en-US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読み取り</a:t>
            </a:r>
            <a:endParaRPr lang="ja-JP" altLang="en-US" sz="1800" b="1">
              <a:solidFill>
                <a:srgbClr val="1A1A1A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grpSp>
        <p:nvGrpSpPr>
          <p:cNvPr id="32" name="グループ化 31">
            <a:extLst>
              <a:ext uri="{FF2B5EF4-FFF2-40B4-BE49-F238E27FC236}">
                <a16:creationId xmlns:a16="http://schemas.microsoft.com/office/drawing/2014/main" id="{3AA69A64-0935-64E9-BE47-93D6A306941F}"/>
              </a:ext>
            </a:extLst>
          </p:cNvPr>
          <p:cNvGrpSpPr/>
          <p:nvPr/>
        </p:nvGrpSpPr>
        <p:grpSpPr>
          <a:xfrm rot="6146884">
            <a:off x="5407963" y="2621034"/>
            <a:ext cx="1035069" cy="961446"/>
            <a:chOff x="2749697" y="2884788"/>
            <a:chExt cx="1035069" cy="961446"/>
          </a:xfrm>
        </p:grpSpPr>
        <p:cxnSp>
          <p:nvCxnSpPr>
            <p:cNvPr id="33" name="直線コネクタ 32">
              <a:extLst>
                <a:ext uri="{FF2B5EF4-FFF2-40B4-BE49-F238E27FC236}">
                  <a16:creationId xmlns:a16="http://schemas.microsoft.com/office/drawing/2014/main" id="{E29F317F-D6B6-7AA8-593A-06391F39F771}"/>
                </a:ext>
              </a:extLst>
            </p:cNvPr>
            <p:cNvCxnSpPr>
              <a:cxnSpLocks/>
            </p:cNvCxnSpPr>
            <p:nvPr/>
          </p:nvCxnSpPr>
          <p:spPr>
            <a:xfrm rot="4251651" flipV="1">
              <a:off x="2684915" y="2949570"/>
              <a:ext cx="961446" cy="831881"/>
            </a:xfrm>
            <a:prstGeom prst="line">
              <a:avLst/>
            </a:prstGeom>
            <a:ln w="53975">
              <a:solidFill>
                <a:srgbClr val="F3CA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4" name="円/楕円 33">
              <a:extLst>
                <a:ext uri="{FF2B5EF4-FFF2-40B4-BE49-F238E27FC236}">
                  <a16:creationId xmlns:a16="http://schemas.microsoft.com/office/drawing/2014/main" id="{59668E3C-3B23-7674-C556-23C102BC5151}"/>
                </a:ext>
              </a:extLst>
            </p:cNvPr>
            <p:cNvSpPr/>
            <p:nvPr/>
          </p:nvSpPr>
          <p:spPr>
            <a:xfrm>
              <a:off x="3622766" y="3596639"/>
              <a:ext cx="162000" cy="162000"/>
            </a:xfrm>
            <a:prstGeom prst="ellipse">
              <a:avLst/>
            </a:prstGeom>
            <a:solidFill>
              <a:srgbClr val="F3C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5" name="フローチャート: 端子 34">
            <a:extLst>
              <a:ext uri="{FF2B5EF4-FFF2-40B4-BE49-F238E27FC236}">
                <a16:creationId xmlns:a16="http://schemas.microsoft.com/office/drawing/2014/main" id="{F960643E-3744-FE97-0501-A148D9CCCC41}"/>
              </a:ext>
            </a:extLst>
          </p:cNvPr>
          <p:cNvSpPr/>
          <p:nvPr/>
        </p:nvSpPr>
        <p:spPr>
          <a:xfrm>
            <a:off x="5661000" y="2185677"/>
            <a:ext cx="1809285" cy="586154"/>
          </a:xfrm>
          <a:prstGeom prst="flowChartTerminator">
            <a:avLst/>
          </a:prstGeom>
          <a:solidFill>
            <a:srgbClr val="F3C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タイトルから</a:t>
            </a:r>
            <a:endParaRPr lang="en-US" altLang="ja-JP" b="1" dirty="0">
              <a:solidFill>
                <a:srgbClr val="1A1A1A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  <a:p>
            <a:pPr algn="ctr"/>
            <a:r>
              <a:rPr lang="ja-JP" altLang="en-US" sz="18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表紙画像取得</a:t>
            </a:r>
            <a:endParaRPr lang="en-US" altLang="ja-JP" sz="1800" b="1" dirty="0">
              <a:solidFill>
                <a:srgbClr val="1A1A1A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g"/>
          <p:cNvSpPr/>
          <p:nvPr/>
        </p:nvSpPr>
        <p:spPr>
          <a:xfrm>
            <a:off x="0" y="8103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dirty="0"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1" name="topbar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2" name="lstrip"/>
          <p:cNvSpPr/>
          <p:nvPr/>
        </p:nvSpPr>
        <p:spPr>
          <a:xfrm>
            <a:off x="0" y="1143000"/>
            <a:ext cx="18000" cy="5715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3" name="section_lbl"/>
          <p:cNvSpPr txBox="1"/>
          <p:nvPr/>
        </p:nvSpPr>
        <p:spPr>
          <a:xfrm>
            <a:off x="10692000" y="80000"/>
            <a:ext cx="1400000" cy="3077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r"/>
            <a:r>
              <a:rPr lang="ja-JP" altLang="en-US" sz="1400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Section 03</a:t>
            </a:r>
          </a:p>
        </p:txBody>
      </p:sp>
      <p:sp>
        <p:nvSpPr>
          <p:cNvPr id="14" name="title_txt"/>
          <p:cNvSpPr txBox="1"/>
          <p:nvPr/>
        </p:nvSpPr>
        <p:spPr>
          <a:xfrm>
            <a:off x="457200" y="233888"/>
            <a:ext cx="9777600" cy="64633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ja-JP" altLang="en-US" sz="3600" b="1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② 買い物リスト機能</a:t>
            </a:r>
          </a:p>
        </p:txBody>
      </p:sp>
      <p:pic>
        <p:nvPicPr>
          <p:cNvPr id="2" name="図 1" descr="モニター画面に映るゲームの画面  低い精度で自動的に生成された説明">
            <a:extLst>
              <a:ext uri="{FF2B5EF4-FFF2-40B4-BE49-F238E27FC236}">
                <a16:creationId xmlns:a16="http://schemas.microsoft.com/office/drawing/2014/main" id="{C19A9FAF-2408-7DDC-FC8C-008F8113492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5600" y="1139538"/>
            <a:ext cx="10198800" cy="5721924"/>
          </a:xfrm>
          <a:prstGeom prst="rect">
            <a:avLst/>
          </a:prstGeom>
        </p:spPr>
      </p:pic>
      <p:grpSp>
        <p:nvGrpSpPr>
          <p:cNvPr id="4" name="グループ化 3">
            <a:extLst>
              <a:ext uri="{FF2B5EF4-FFF2-40B4-BE49-F238E27FC236}">
                <a16:creationId xmlns:a16="http://schemas.microsoft.com/office/drawing/2014/main" id="{449FE762-3B6E-931F-0565-908CDDA5793B}"/>
              </a:ext>
            </a:extLst>
          </p:cNvPr>
          <p:cNvGrpSpPr/>
          <p:nvPr/>
        </p:nvGrpSpPr>
        <p:grpSpPr>
          <a:xfrm rot="17348349">
            <a:off x="401052" y="2500113"/>
            <a:ext cx="1035069" cy="961446"/>
            <a:chOff x="2749697" y="2884788"/>
            <a:chExt cx="1035069" cy="961446"/>
          </a:xfrm>
        </p:grpSpPr>
        <p:cxnSp>
          <p:nvCxnSpPr>
            <p:cNvPr id="5" name="直線コネクタ 4">
              <a:extLst>
                <a:ext uri="{FF2B5EF4-FFF2-40B4-BE49-F238E27FC236}">
                  <a16:creationId xmlns:a16="http://schemas.microsoft.com/office/drawing/2014/main" id="{373726AE-2A37-C367-61E9-838CE8EAFCF3}"/>
                </a:ext>
              </a:extLst>
            </p:cNvPr>
            <p:cNvCxnSpPr>
              <a:cxnSpLocks/>
            </p:cNvCxnSpPr>
            <p:nvPr/>
          </p:nvCxnSpPr>
          <p:spPr>
            <a:xfrm rot="4251651" flipV="1">
              <a:off x="2684915" y="2949570"/>
              <a:ext cx="961446" cy="831881"/>
            </a:xfrm>
            <a:prstGeom prst="line">
              <a:avLst/>
            </a:prstGeom>
            <a:ln w="53975">
              <a:solidFill>
                <a:srgbClr val="F3CA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円/楕円 5">
              <a:extLst>
                <a:ext uri="{FF2B5EF4-FFF2-40B4-BE49-F238E27FC236}">
                  <a16:creationId xmlns:a16="http://schemas.microsoft.com/office/drawing/2014/main" id="{DC531C48-4870-7797-C286-A94CA5BA509C}"/>
                </a:ext>
              </a:extLst>
            </p:cNvPr>
            <p:cNvSpPr/>
            <p:nvPr/>
          </p:nvSpPr>
          <p:spPr>
            <a:xfrm>
              <a:off x="3622766" y="3596639"/>
              <a:ext cx="162000" cy="162000"/>
            </a:xfrm>
            <a:prstGeom prst="ellipse">
              <a:avLst/>
            </a:prstGeom>
            <a:solidFill>
              <a:srgbClr val="F3C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9" name="フローチャート: 端子 8">
            <a:extLst>
              <a:ext uri="{FF2B5EF4-FFF2-40B4-BE49-F238E27FC236}">
                <a16:creationId xmlns:a16="http://schemas.microsoft.com/office/drawing/2014/main" id="{36E27337-2BD0-010C-9871-86416B5CC740}"/>
              </a:ext>
            </a:extLst>
          </p:cNvPr>
          <p:cNvSpPr/>
          <p:nvPr/>
        </p:nvSpPr>
        <p:spPr>
          <a:xfrm>
            <a:off x="0" y="3340170"/>
            <a:ext cx="1317956" cy="586154"/>
          </a:xfrm>
          <a:prstGeom prst="flowChartTerminator">
            <a:avLst/>
          </a:prstGeom>
          <a:solidFill>
            <a:srgbClr val="F3C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予算バー</a:t>
            </a:r>
            <a:endParaRPr lang="ja-JP" altLang="en-US" sz="1800" b="1">
              <a:solidFill>
                <a:srgbClr val="1A1A1A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548621A4-0AD0-374A-02E1-7C76A8764AC5}"/>
              </a:ext>
            </a:extLst>
          </p:cNvPr>
          <p:cNvSpPr/>
          <p:nvPr/>
        </p:nvSpPr>
        <p:spPr>
          <a:xfrm>
            <a:off x="1139125" y="1755834"/>
            <a:ext cx="4956874" cy="5102165"/>
          </a:xfrm>
          <a:prstGeom prst="rect">
            <a:avLst/>
          </a:prstGeom>
          <a:noFill/>
          <a:ln w="76200">
            <a:solidFill>
              <a:srgbClr val="F3CA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フローチャート: 端子 2">
            <a:extLst>
              <a:ext uri="{FF2B5EF4-FFF2-40B4-BE49-F238E27FC236}">
                <a16:creationId xmlns:a16="http://schemas.microsoft.com/office/drawing/2014/main" id="{2C7C4FBD-7C3D-37EB-81C3-751DB80B0524}"/>
              </a:ext>
            </a:extLst>
          </p:cNvPr>
          <p:cNvSpPr/>
          <p:nvPr/>
        </p:nvSpPr>
        <p:spPr>
          <a:xfrm>
            <a:off x="2781238" y="1462758"/>
            <a:ext cx="1683056" cy="586154"/>
          </a:xfrm>
          <a:prstGeom prst="flowChartTerminator">
            <a:avLst/>
          </a:prstGeom>
          <a:solidFill>
            <a:srgbClr val="F3C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8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即売会別</a:t>
            </a: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928813DB-7D04-2765-FE41-3F3A29018E97}"/>
              </a:ext>
            </a:extLst>
          </p:cNvPr>
          <p:cNvSpPr/>
          <p:nvPr/>
        </p:nvSpPr>
        <p:spPr>
          <a:xfrm>
            <a:off x="1317956" y="2908297"/>
            <a:ext cx="4634042" cy="3072089"/>
          </a:xfrm>
          <a:prstGeom prst="rect">
            <a:avLst/>
          </a:prstGeom>
          <a:noFill/>
          <a:ln w="44450">
            <a:solidFill>
              <a:srgbClr val="F3CA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フローチャート: 端子 6">
            <a:extLst>
              <a:ext uri="{FF2B5EF4-FFF2-40B4-BE49-F238E27FC236}">
                <a16:creationId xmlns:a16="http://schemas.microsoft.com/office/drawing/2014/main" id="{66C95611-079F-CC1F-7EF9-70032098F3B6}"/>
              </a:ext>
            </a:extLst>
          </p:cNvPr>
          <p:cNvSpPr/>
          <p:nvPr/>
        </p:nvSpPr>
        <p:spPr>
          <a:xfrm>
            <a:off x="2806197" y="2615219"/>
            <a:ext cx="1683056" cy="586154"/>
          </a:xfrm>
          <a:prstGeom prst="flowChartTerminator">
            <a:avLst/>
          </a:prstGeom>
          <a:solidFill>
            <a:srgbClr val="F3C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サークル</a:t>
            </a:r>
            <a:r>
              <a:rPr lang="ja-JP" altLang="en-US" sz="18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別</a:t>
            </a:r>
          </a:p>
        </p:txBody>
      </p:sp>
      <p:sp>
        <p:nvSpPr>
          <p:cNvPr id="27" name="正方形/長方形 26">
            <a:extLst>
              <a:ext uri="{FF2B5EF4-FFF2-40B4-BE49-F238E27FC236}">
                <a16:creationId xmlns:a16="http://schemas.microsoft.com/office/drawing/2014/main" id="{2B4D2B3E-0E24-485B-0360-6CBFC5BE8BB7}"/>
              </a:ext>
            </a:extLst>
          </p:cNvPr>
          <p:cNvSpPr/>
          <p:nvPr/>
        </p:nvSpPr>
        <p:spPr>
          <a:xfrm>
            <a:off x="6697044" y="1527315"/>
            <a:ext cx="4355831" cy="5250685"/>
          </a:xfrm>
          <a:prstGeom prst="rect">
            <a:avLst/>
          </a:prstGeom>
          <a:noFill/>
          <a:ln w="76200">
            <a:solidFill>
              <a:srgbClr val="F3CA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8" name="フローチャート: 端子 27">
            <a:extLst>
              <a:ext uri="{FF2B5EF4-FFF2-40B4-BE49-F238E27FC236}">
                <a16:creationId xmlns:a16="http://schemas.microsoft.com/office/drawing/2014/main" id="{4D7AC2A6-3761-C299-DA14-C60985FBD544}"/>
              </a:ext>
            </a:extLst>
          </p:cNvPr>
          <p:cNvSpPr/>
          <p:nvPr/>
        </p:nvSpPr>
        <p:spPr>
          <a:xfrm>
            <a:off x="7414651" y="1264534"/>
            <a:ext cx="2471096" cy="586154"/>
          </a:xfrm>
          <a:prstGeom prst="flowChartTerminator">
            <a:avLst/>
          </a:prstGeom>
          <a:solidFill>
            <a:srgbClr val="F3C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ナビ</a:t>
            </a:r>
            <a:r>
              <a:rPr lang="ja-JP" altLang="en-US" sz="18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ゲーションモード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dirty="0"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1" name="topbar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2" name="lstrip"/>
          <p:cNvSpPr/>
          <p:nvPr/>
        </p:nvSpPr>
        <p:spPr>
          <a:xfrm>
            <a:off x="0" y="1143000"/>
            <a:ext cx="18000" cy="5715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3" name="section_lbl"/>
          <p:cNvSpPr txBox="1"/>
          <p:nvPr/>
        </p:nvSpPr>
        <p:spPr>
          <a:xfrm>
            <a:off x="10692000" y="80000"/>
            <a:ext cx="1400000" cy="3077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r"/>
            <a:r>
              <a:rPr lang="ja-JP" altLang="en-US" sz="1400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Section 03</a:t>
            </a:r>
          </a:p>
        </p:txBody>
      </p:sp>
      <p:sp>
        <p:nvSpPr>
          <p:cNvPr id="14" name="title_txt"/>
          <p:cNvSpPr txBox="1"/>
          <p:nvPr/>
        </p:nvSpPr>
        <p:spPr>
          <a:xfrm>
            <a:off x="457200" y="120000"/>
            <a:ext cx="9777600" cy="64633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ja-JP" altLang="en-US" sz="3600" b="1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② 買い物リスト機能</a:t>
            </a:r>
          </a:p>
        </p:txBody>
      </p:sp>
      <p:sp>
        <p:nvSpPr>
          <p:cNvPr id="20" name="budget_title"/>
          <p:cNvSpPr/>
          <p:nvPr/>
        </p:nvSpPr>
        <p:spPr>
          <a:xfrm>
            <a:off x="457200" y="1450000"/>
            <a:ext cx="5538800" cy="50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7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予算バー — 購入状況の可視化</a:t>
            </a:r>
          </a:p>
        </p:txBody>
      </p:sp>
      <p:sp>
        <p:nvSpPr>
          <p:cNvPr id="21" name="bar_bg"/>
          <p:cNvSpPr/>
          <p:nvPr/>
        </p:nvSpPr>
        <p:spPr>
          <a:xfrm>
            <a:off x="457200" y="2100000"/>
            <a:ext cx="5538800" cy="280000"/>
          </a:xfrm>
          <a:prstGeom prst="rect">
            <a:avLst/>
          </a:prstGeom>
          <a:solidFill>
            <a:srgbClr val="EEEEEE"/>
          </a:solidFill>
          <a:ln>
            <a:noFill/>
          </a:ln>
        </p:spPr>
        <p:txBody>
          <a:bodyPr rtlCol="0" anchor="ctr">
            <a:normAutofit fontScale="85000" lnSpcReduction="20000"/>
          </a:bodyPr>
          <a:lstStyle/>
          <a:p>
            <a:pPr algn="ctr"/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22" name="bar_paid"/>
          <p:cNvSpPr/>
          <p:nvPr/>
        </p:nvSpPr>
        <p:spPr>
          <a:xfrm>
            <a:off x="457200" y="2100000"/>
            <a:ext cx="2769400" cy="2800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txBody>
          <a:bodyPr rtlCol="0" anchor="ctr">
            <a:normAutofit fontScale="85000" lnSpcReduction="20000"/>
          </a:bodyPr>
          <a:lstStyle/>
          <a:p>
            <a:pPr algn="ctr"/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23" name="bar_unpaid"/>
          <p:cNvSpPr/>
          <p:nvPr/>
        </p:nvSpPr>
        <p:spPr>
          <a:xfrm>
            <a:off x="3226600" y="2100000"/>
            <a:ext cx="1107760" cy="280000"/>
          </a:xfrm>
          <a:prstGeom prst="rect">
            <a:avLst/>
          </a:prstGeom>
          <a:solidFill>
            <a:srgbClr val="FFC107"/>
          </a:solidFill>
          <a:ln>
            <a:noFill/>
          </a:ln>
        </p:spPr>
        <p:txBody>
          <a:bodyPr rtlCol="0" anchor="ctr">
            <a:normAutofit fontScale="85000" lnSpcReduction="20000"/>
          </a:bodyPr>
          <a:lstStyle/>
          <a:p>
            <a:pPr algn="ctr"/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24" name="bar_lbl"/>
          <p:cNvSpPr txBox="1"/>
          <p:nvPr/>
        </p:nvSpPr>
        <p:spPr>
          <a:xfrm>
            <a:off x="457200" y="2450000"/>
            <a:ext cx="5538800" cy="50783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ja-JP" altLang="en-US" sz="14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■ 購入済 ¥5,000  ■ 未購入 ¥2,000  残り ¥3,000</a:t>
            </a:r>
          </a:p>
          <a:p>
            <a:r>
              <a:rPr lang="ja-JP" altLang="en-US" sz="1300">
                <a:solidFill>
                  <a:srgbClr val="FF0000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→予算</a:t>
            </a:r>
            <a:r>
              <a:rPr lang="ja-JP" altLang="en-US" sz="1300" dirty="0">
                <a:solidFill>
                  <a:srgbClr val="FF0000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超過時は赤く表示 — 会場でも一目で残高確認</a:t>
            </a:r>
          </a:p>
        </p:txBody>
      </p:sp>
      <p:sp>
        <p:nvSpPr>
          <p:cNvPr id="25" name="csv_card"/>
          <p:cNvSpPr/>
          <p:nvPr/>
        </p:nvSpPr>
        <p:spPr>
          <a:xfrm>
            <a:off x="457200" y="3150000"/>
            <a:ext cx="5538800" cy="600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500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📥 CSVインポート対応
スプレッドシートの購入リストをそのまま取り込める</a:t>
            </a:r>
          </a:p>
        </p:txBody>
      </p:sp>
      <p:sp>
        <p:nvSpPr>
          <p:cNvPr id="26" name="x_card"/>
          <p:cNvSpPr/>
          <p:nvPr/>
        </p:nvSpPr>
        <p:spPr>
          <a:xfrm>
            <a:off x="457200" y="3850000"/>
            <a:ext cx="5538800" cy="600000"/>
          </a:xfrm>
          <a:prstGeom prst="rect">
            <a:avLst/>
          </a:prstGeom>
          <a:solidFill>
            <a:srgbClr val="1DA1F2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500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🐦 代理購入依頼をX（Twitter）にシェア
ワンタップで購入依頼ツイートを自動生成</a:t>
            </a:r>
          </a:p>
        </p:txBody>
      </p:sp>
      <p:sp>
        <p:nvSpPr>
          <p:cNvPr id="30" name="list_title"/>
          <p:cNvSpPr/>
          <p:nvPr/>
        </p:nvSpPr>
        <p:spPr>
          <a:xfrm>
            <a:off x="6196000" y="1450000"/>
            <a:ext cx="5538800" cy="50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7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購入リスト イメージ</a:t>
            </a:r>
          </a:p>
        </p:txBody>
      </p:sp>
      <p:sp>
        <p:nvSpPr>
          <p:cNvPr id="40" name="li_s0"/>
          <p:cNvSpPr/>
          <p:nvPr/>
        </p:nvSpPr>
        <p:spPr>
          <a:xfrm>
            <a:off x="6196000" y="2100000"/>
            <a:ext cx="900000" cy="380000"/>
          </a:xfrm>
          <a:prstGeom prst="rect">
            <a:avLst/>
          </a:prstGeom>
          <a:solidFill>
            <a:srgbClr val="4CAF50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300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✅ 購入済</a:t>
            </a:r>
          </a:p>
        </p:txBody>
      </p:sp>
      <p:sp>
        <p:nvSpPr>
          <p:cNvPr id="41" name="li_t0"/>
          <p:cNvSpPr/>
          <p:nvPr/>
        </p:nvSpPr>
        <p:spPr>
          <a:xfrm>
            <a:off x="7116000" y="2100000"/>
            <a:ext cx="46188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400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サークルA 新刊   ¥800</a:t>
            </a:r>
          </a:p>
        </p:txBody>
      </p:sp>
      <p:sp>
        <p:nvSpPr>
          <p:cNvPr id="42" name="li_s1"/>
          <p:cNvSpPr/>
          <p:nvPr/>
        </p:nvSpPr>
        <p:spPr>
          <a:xfrm>
            <a:off x="6196000" y="2580000"/>
            <a:ext cx="900000" cy="38000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300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⬜ 未購入</a:t>
            </a:r>
          </a:p>
        </p:txBody>
      </p:sp>
      <p:sp>
        <p:nvSpPr>
          <p:cNvPr id="43" name="li_t1"/>
          <p:cNvSpPr/>
          <p:nvPr/>
        </p:nvSpPr>
        <p:spPr>
          <a:xfrm>
            <a:off x="7116000" y="2580000"/>
            <a:ext cx="46188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400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サークルB 既刊2  ¥600</a:t>
            </a:r>
          </a:p>
        </p:txBody>
      </p:sp>
      <p:sp>
        <p:nvSpPr>
          <p:cNvPr id="44" name="li_s2"/>
          <p:cNvSpPr/>
          <p:nvPr/>
        </p:nvSpPr>
        <p:spPr>
          <a:xfrm>
            <a:off x="6196000" y="3060000"/>
            <a:ext cx="900000" cy="38000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300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⬜ 未購入</a:t>
            </a:r>
          </a:p>
        </p:txBody>
      </p:sp>
      <p:sp>
        <p:nvSpPr>
          <p:cNvPr id="45" name="li_t2"/>
          <p:cNvSpPr/>
          <p:nvPr/>
        </p:nvSpPr>
        <p:spPr>
          <a:xfrm>
            <a:off x="7116000" y="3060000"/>
            <a:ext cx="46188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400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サークルC 新刊   ¥1,000</a:t>
            </a:r>
          </a:p>
        </p:txBody>
      </p:sp>
      <p:sp>
        <p:nvSpPr>
          <p:cNvPr id="46" name="li_s3"/>
          <p:cNvSpPr/>
          <p:nvPr/>
        </p:nvSpPr>
        <p:spPr>
          <a:xfrm>
            <a:off x="6196000" y="3540000"/>
            <a:ext cx="900000" cy="380000"/>
          </a:xfrm>
          <a:prstGeom prst="rect">
            <a:avLst/>
          </a:prstGeom>
          <a:solidFill>
            <a:srgbClr val="F44336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300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❌ 売切れ</a:t>
            </a:r>
          </a:p>
        </p:txBody>
      </p:sp>
      <p:sp>
        <p:nvSpPr>
          <p:cNvPr id="47" name="li_t3"/>
          <p:cNvSpPr/>
          <p:nvPr/>
        </p:nvSpPr>
        <p:spPr>
          <a:xfrm>
            <a:off x="7116000" y="3540000"/>
            <a:ext cx="46188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400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サークルD 新刊   ¥700</a:t>
            </a:r>
          </a:p>
        </p:txBody>
      </p:sp>
      <p:sp>
        <p:nvSpPr>
          <p:cNvPr id="60" name="total"/>
          <p:cNvSpPr txBox="1"/>
          <p:nvPr/>
        </p:nvSpPr>
        <p:spPr>
          <a:xfrm>
            <a:off x="6196000" y="4150000"/>
            <a:ext cx="5538800" cy="40011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ja-JP" altLang="en-US" sz="2000" b="1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合計: ¥1,400 / 予算 ¥10,000</a:t>
            </a:r>
          </a:p>
        </p:txBody>
      </p:sp>
    </p:spTree>
    <p:extLst>
      <p:ext uri="{BB962C8B-B14F-4D97-AF65-F5344CB8AC3E}">
        <p14:creationId xmlns:p14="http://schemas.microsoft.com/office/powerpoint/2010/main" val="8580888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1" name="topbar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2" name="lstrip"/>
          <p:cNvSpPr/>
          <p:nvPr/>
        </p:nvSpPr>
        <p:spPr>
          <a:xfrm>
            <a:off x="0" y="1143000"/>
            <a:ext cx="18000" cy="5715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3" name="section_lbl"/>
          <p:cNvSpPr txBox="1"/>
          <p:nvPr/>
        </p:nvSpPr>
        <p:spPr>
          <a:xfrm>
            <a:off x="10692000" y="80000"/>
            <a:ext cx="1400000" cy="3077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r"/>
            <a:r>
              <a:rPr lang="ja-JP" altLang="en-US" sz="1400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Section 03</a:t>
            </a:r>
          </a:p>
        </p:txBody>
      </p:sp>
      <p:sp>
        <p:nvSpPr>
          <p:cNvPr id="14" name="title_txt"/>
          <p:cNvSpPr txBox="1"/>
          <p:nvPr/>
        </p:nvSpPr>
        <p:spPr>
          <a:xfrm>
            <a:off x="457200" y="248334"/>
            <a:ext cx="9777600" cy="64633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ja-JP" altLang="en-US" sz="3600" b="1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③ MAP機能 </a:t>
            </a:r>
            <a:r>
              <a:rPr lang="ja-JP" altLang="en-US" sz="36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— 会場把握と購入確認</a:t>
            </a:r>
            <a:endParaRPr lang="ja-JP" altLang="en-US" sz="3600" b="1" dirty="0">
              <a:solidFill>
                <a:srgbClr val="1A1A1A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pic>
        <p:nvPicPr>
          <p:cNvPr id="7" name="図 6" descr="コンピューターのスクリーンショット&#10;&#10;自動的に生成された説明">
            <a:extLst>
              <a:ext uri="{FF2B5EF4-FFF2-40B4-BE49-F238E27FC236}">
                <a16:creationId xmlns:a16="http://schemas.microsoft.com/office/drawing/2014/main" id="{2BE646D2-F362-699D-9C63-7058818AB6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17492" y="1211103"/>
            <a:ext cx="9832618" cy="5566897"/>
          </a:xfrm>
          <a:prstGeom prst="rect">
            <a:avLst/>
          </a:prstGeom>
        </p:spPr>
      </p:pic>
      <p:sp>
        <p:nvSpPr>
          <p:cNvPr id="3" name="フローチャート: 端子 2">
            <a:extLst>
              <a:ext uri="{FF2B5EF4-FFF2-40B4-BE49-F238E27FC236}">
                <a16:creationId xmlns:a16="http://schemas.microsoft.com/office/drawing/2014/main" id="{6523A1F0-A5AA-303A-2A21-5DD613163DE0}"/>
              </a:ext>
            </a:extLst>
          </p:cNvPr>
          <p:cNvSpPr/>
          <p:nvPr/>
        </p:nvSpPr>
        <p:spPr>
          <a:xfrm>
            <a:off x="4712057" y="1800436"/>
            <a:ext cx="2625969" cy="586154"/>
          </a:xfrm>
          <a:prstGeom prst="flowChartTerminator">
            <a:avLst/>
          </a:prstGeom>
          <a:solidFill>
            <a:srgbClr val="F3CA00"/>
          </a:solidFill>
          <a:ln>
            <a:solidFill>
              <a:schemeClr val="accent1">
                <a:shade val="15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8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ナビモード</a:t>
            </a:r>
            <a:endParaRPr lang="en-US" altLang="ja-JP" sz="1800" b="1" dirty="0">
              <a:solidFill>
                <a:srgbClr val="1A1A1A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  <a:p>
            <a:pPr algn="ctr"/>
            <a:r>
              <a:rPr lang="ja-JP" altLang="en-US" sz="18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（最短巡回ルート）</a:t>
            </a:r>
            <a:endParaRPr lang="ja-JP" altLang="en-US" sz="1800" b="1" dirty="0">
              <a:solidFill>
                <a:srgbClr val="1A1A1A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5" name="フローチャート: 端子 4">
            <a:extLst>
              <a:ext uri="{FF2B5EF4-FFF2-40B4-BE49-F238E27FC236}">
                <a16:creationId xmlns:a16="http://schemas.microsoft.com/office/drawing/2014/main" id="{5BDD9185-5CEE-7622-0602-3366DFA11EE5}"/>
              </a:ext>
            </a:extLst>
          </p:cNvPr>
          <p:cNvSpPr/>
          <p:nvPr/>
        </p:nvSpPr>
        <p:spPr>
          <a:xfrm>
            <a:off x="299525" y="2588557"/>
            <a:ext cx="2111978" cy="586154"/>
          </a:xfrm>
          <a:prstGeom prst="flowChartTerminator">
            <a:avLst/>
          </a:prstGeom>
          <a:solidFill>
            <a:srgbClr val="F3C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8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 マップ表示機能</a:t>
            </a:r>
          </a:p>
        </p:txBody>
      </p:sp>
      <p:grpSp>
        <p:nvGrpSpPr>
          <p:cNvPr id="17" name="グループ化 16">
            <a:extLst>
              <a:ext uri="{FF2B5EF4-FFF2-40B4-BE49-F238E27FC236}">
                <a16:creationId xmlns:a16="http://schemas.microsoft.com/office/drawing/2014/main" id="{7570996B-1F1E-D14F-B56A-629DD7DD9471}"/>
              </a:ext>
            </a:extLst>
          </p:cNvPr>
          <p:cNvGrpSpPr/>
          <p:nvPr/>
        </p:nvGrpSpPr>
        <p:grpSpPr>
          <a:xfrm>
            <a:off x="2361346" y="2911758"/>
            <a:ext cx="1423420" cy="903046"/>
            <a:chOff x="2361346" y="2855593"/>
            <a:chExt cx="1423420" cy="903046"/>
          </a:xfrm>
        </p:grpSpPr>
        <p:cxnSp>
          <p:nvCxnSpPr>
            <p:cNvPr id="9" name="直線コネクタ 8">
              <a:extLst>
                <a:ext uri="{FF2B5EF4-FFF2-40B4-BE49-F238E27FC236}">
                  <a16:creationId xmlns:a16="http://schemas.microsoft.com/office/drawing/2014/main" id="{DC2C7BE7-0A29-5B36-CC73-BAEDE3B26E15}"/>
                </a:ext>
              </a:extLst>
            </p:cNvPr>
            <p:cNvCxnSpPr>
              <a:cxnSpLocks/>
            </p:cNvCxnSpPr>
            <p:nvPr/>
          </p:nvCxnSpPr>
          <p:spPr>
            <a:xfrm>
              <a:off x="2361346" y="2855593"/>
              <a:ext cx="1354855" cy="827697"/>
            </a:xfrm>
            <a:prstGeom prst="line">
              <a:avLst/>
            </a:prstGeom>
            <a:ln w="53975">
              <a:solidFill>
                <a:srgbClr val="F3CA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円/楕円 15">
              <a:extLst>
                <a:ext uri="{FF2B5EF4-FFF2-40B4-BE49-F238E27FC236}">
                  <a16:creationId xmlns:a16="http://schemas.microsoft.com/office/drawing/2014/main" id="{81E0B969-18FE-8274-E62C-6390176552ED}"/>
                </a:ext>
              </a:extLst>
            </p:cNvPr>
            <p:cNvSpPr/>
            <p:nvPr/>
          </p:nvSpPr>
          <p:spPr>
            <a:xfrm>
              <a:off x="3622766" y="3596639"/>
              <a:ext cx="162000" cy="162000"/>
            </a:xfrm>
            <a:prstGeom prst="ellipse">
              <a:avLst/>
            </a:prstGeom>
            <a:solidFill>
              <a:srgbClr val="F3C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19" name="グループ化 18">
            <a:extLst>
              <a:ext uri="{FF2B5EF4-FFF2-40B4-BE49-F238E27FC236}">
                <a16:creationId xmlns:a16="http://schemas.microsoft.com/office/drawing/2014/main" id="{C5D85840-EE8A-1135-26D0-9B9B7D5F376B}"/>
              </a:ext>
            </a:extLst>
          </p:cNvPr>
          <p:cNvGrpSpPr/>
          <p:nvPr/>
        </p:nvGrpSpPr>
        <p:grpSpPr>
          <a:xfrm rot="9572599">
            <a:off x="8186342" y="3440393"/>
            <a:ext cx="1423420" cy="903046"/>
            <a:chOff x="2361346" y="2855593"/>
            <a:chExt cx="1423420" cy="903046"/>
          </a:xfrm>
        </p:grpSpPr>
        <p:cxnSp>
          <p:nvCxnSpPr>
            <p:cNvPr id="26" name="直線コネクタ 25">
              <a:extLst>
                <a:ext uri="{FF2B5EF4-FFF2-40B4-BE49-F238E27FC236}">
                  <a16:creationId xmlns:a16="http://schemas.microsoft.com/office/drawing/2014/main" id="{DB5346B0-4B6F-4C60-96F6-CD6762905CDE}"/>
                </a:ext>
              </a:extLst>
            </p:cNvPr>
            <p:cNvCxnSpPr>
              <a:cxnSpLocks/>
            </p:cNvCxnSpPr>
            <p:nvPr/>
          </p:nvCxnSpPr>
          <p:spPr>
            <a:xfrm>
              <a:off x="2361346" y="2855593"/>
              <a:ext cx="1354855" cy="827697"/>
            </a:xfrm>
            <a:prstGeom prst="line">
              <a:avLst/>
            </a:prstGeom>
            <a:ln w="53975">
              <a:solidFill>
                <a:srgbClr val="F3CA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円/楕円 26">
              <a:extLst>
                <a:ext uri="{FF2B5EF4-FFF2-40B4-BE49-F238E27FC236}">
                  <a16:creationId xmlns:a16="http://schemas.microsoft.com/office/drawing/2014/main" id="{A4EDEC85-5851-FA5C-BF00-D16D8AD439D3}"/>
                </a:ext>
              </a:extLst>
            </p:cNvPr>
            <p:cNvSpPr/>
            <p:nvPr/>
          </p:nvSpPr>
          <p:spPr>
            <a:xfrm>
              <a:off x="3622766" y="3596639"/>
              <a:ext cx="162000" cy="162000"/>
            </a:xfrm>
            <a:prstGeom prst="ellipse">
              <a:avLst/>
            </a:prstGeom>
            <a:solidFill>
              <a:srgbClr val="F3C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4" name="フローチャート: 端子 3">
            <a:extLst>
              <a:ext uri="{FF2B5EF4-FFF2-40B4-BE49-F238E27FC236}">
                <a16:creationId xmlns:a16="http://schemas.microsoft.com/office/drawing/2014/main" id="{D265F90A-7120-8D4E-828D-1E46A9654E35}"/>
              </a:ext>
            </a:extLst>
          </p:cNvPr>
          <p:cNvSpPr/>
          <p:nvPr/>
        </p:nvSpPr>
        <p:spPr>
          <a:xfrm>
            <a:off x="9548955" y="3733278"/>
            <a:ext cx="2625969" cy="586154"/>
          </a:xfrm>
          <a:prstGeom prst="flowChartTerminator">
            <a:avLst/>
          </a:prstGeom>
          <a:solidFill>
            <a:srgbClr val="F3C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8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サークルのピン配置</a:t>
            </a:r>
          </a:p>
        </p:txBody>
      </p:sp>
      <p:grpSp>
        <p:nvGrpSpPr>
          <p:cNvPr id="28" name="グループ化 27">
            <a:extLst>
              <a:ext uri="{FF2B5EF4-FFF2-40B4-BE49-F238E27FC236}">
                <a16:creationId xmlns:a16="http://schemas.microsoft.com/office/drawing/2014/main" id="{4CCA74EC-EF11-7AB9-13B4-6065B7131060}"/>
              </a:ext>
            </a:extLst>
          </p:cNvPr>
          <p:cNvGrpSpPr/>
          <p:nvPr/>
        </p:nvGrpSpPr>
        <p:grpSpPr>
          <a:xfrm rot="13131413">
            <a:off x="6528993" y="5022897"/>
            <a:ext cx="1423420" cy="903046"/>
            <a:chOff x="2361346" y="2855593"/>
            <a:chExt cx="1423420" cy="903046"/>
          </a:xfrm>
        </p:grpSpPr>
        <p:cxnSp>
          <p:nvCxnSpPr>
            <p:cNvPr id="29" name="直線コネクタ 28">
              <a:extLst>
                <a:ext uri="{FF2B5EF4-FFF2-40B4-BE49-F238E27FC236}">
                  <a16:creationId xmlns:a16="http://schemas.microsoft.com/office/drawing/2014/main" id="{BD0953DD-879B-DBD5-61A4-2C5E5B1F24F0}"/>
                </a:ext>
              </a:extLst>
            </p:cNvPr>
            <p:cNvCxnSpPr>
              <a:cxnSpLocks/>
            </p:cNvCxnSpPr>
            <p:nvPr/>
          </p:nvCxnSpPr>
          <p:spPr>
            <a:xfrm>
              <a:off x="2361346" y="2855593"/>
              <a:ext cx="1354855" cy="827697"/>
            </a:xfrm>
            <a:prstGeom prst="line">
              <a:avLst/>
            </a:prstGeom>
            <a:ln w="53975">
              <a:solidFill>
                <a:srgbClr val="F3CA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31" name="円/楕円 30">
              <a:extLst>
                <a:ext uri="{FF2B5EF4-FFF2-40B4-BE49-F238E27FC236}">
                  <a16:creationId xmlns:a16="http://schemas.microsoft.com/office/drawing/2014/main" id="{0A5B6BF6-7968-2165-2D12-7136299980C3}"/>
                </a:ext>
              </a:extLst>
            </p:cNvPr>
            <p:cNvSpPr/>
            <p:nvPr/>
          </p:nvSpPr>
          <p:spPr>
            <a:xfrm>
              <a:off x="3622766" y="3596639"/>
              <a:ext cx="162000" cy="162000"/>
            </a:xfrm>
            <a:prstGeom prst="ellipse">
              <a:avLst/>
            </a:prstGeom>
            <a:solidFill>
              <a:srgbClr val="F3CA0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2" name="フローチャート: 端子 31">
            <a:extLst>
              <a:ext uri="{FF2B5EF4-FFF2-40B4-BE49-F238E27FC236}">
                <a16:creationId xmlns:a16="http://schemas.microsoft.com/office/drawing/2014/main" id="{A43556DA-DC7D-0D13-1777-6ED5E5EB2C96}"/>
              </a:ext>
            </a:extLst>
          </p:cNvPr>
          <p:cNvSpPr/>
          <p:nvPr/>
        </p:nvSpPr>
        <p:spPr>
          <a:xfrm>
            <a:off x="7095911" y="6102937"/>
            <a:ext cx="3138889" cy="586154"/>
          </a:xfrm>
          <a:prstGeom prst="flowChartTerminator">
            <a:avLst/>
          </a:prstGeom>
          <a:solidFill>
            <a:srgbClr val="F3CA0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ja-JP" altLang="en-US" sz="18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購入ステータス</a:t>
            </a:r>
            <a:endParaRPr lang="en-US" altLang="ja-JP" sz="1800" b="1" dirty="0">
              <a:solidFill>
                <a:srgbClr val="1A1A1A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  <a:p>
            <a:pPr algn="ctr"/>
            <a:r>
              <a:rPr lang="ja-JP" altLang="en-US" sz="18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ポップアップ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03BD6076-174F-B314-7114-457F5AFB50B2}"/>
              </a:ext>
            </a:extLst>
          </p:cNvPr>
          <p:cNvSpPr/>
          <p:nvPr/>
        </p:nvSpPr>
        <p:spPr>
          <a:xfrm>
            <a:off x="2956560" y="0"/>
            <a:ext cx="9235440" cy="6858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A45EBDC-326E-2B0B-88C0-094F592629DC}"/>
              </a:ext>
            </a:extLst>
          </p:cNvPr>
          <p:cNvSpPr txBox="1"/>
          <p:nvPr/>
        </p:nvSpPr>
        <p:spPr>
          <a:xfrm>
            <a:off x="3598137" y="2767280"/>
            <a:ext cx="7952285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8000" b="1" spc="300" dirty="0">
                <a:solidFill>
                  <a:schemeClr val="bg1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4. </a:t>
            </a:r>
            <a:r>
              <a:rPr lang="ja-JP" altLang="en-US" sz="8000" b="1" spc="300">
                <a:solidFill>
                  <a:schemeClr val="bg1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技術スタック</a:t>
            </a:r>
            <a:r>
              <a:rPr kumimoji="1" lang="en-US" altLang="ja-JP" sz="8000" b="1" spc="300" dirty="0">
                <a:solidFill>
                  <a:schemeClr val="bg1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8311285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1" name="topbar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2" name="lstrip"/>
          <p:cNvSpPr/>
          <p:nvPr/>
        </p:nvSpPr>
        <p:spPr>
          <a:xfrm>
            <a:off x="0" y="1143000"/>
            <a:ext cx="18000" cy="5715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3" name="section_lbl"/>
          <p:cNvSpPr txBox="1"/>
          <p:nvPr/>
        </p:nvSpPr>
        <p:spPr>
          <a:xfrm>
            <a:off x="10692000" y="80000"/>
            <a:ext cx="1400000" cy="3077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r"/>
            <a:r>
              <a:rPr lang="ja-JP" altLang="en-US" sz="1400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Section 04</a:t>
            </a:r>
          </a:p>
        </p:txBody>
      </p:sp>
      <p:sp>
        <p:nvSpPr>
          <p:cNvPr id="14" name="title_txt"/>
          <p:cNvSpPr txBox="1"/>
          <p:nvPr/>
        </p:nvSpPr>
        <p:spPr>
          <a:xfrm>
            <a:off x="457200" y="248334"/>
            <a:ext cx="9777600" cy="64633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ja-JP" altLang="en-US" sz="3600" b="1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フロントエンド技術スタック</a:t>
            </a:r>
          </a:p>
        </p:txBody>
      </p:sp>
      <p:sp>
        <p:nvSpPr>
          <p:cNvPr id="20" name="stack_lbl"/>
          <p:cNvSpPr/>
          <p:nvPr/>
        </p:nvSpPr>
        <p:spPr>
          <a:xfrm>
            <a:off x="457200" y="1400000"/>
            <a:ext cx="11277600" cy="480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800" b="1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React 19 + TypeScript 5 + Vite 6 + Tailwind CSS 4</a:t>
            </a:r>
          </a:p>
        </p:txBody>
      </p:sp>
      <p:sp>
        <p:nvSpPr>
          <p:cNvPr id="30" name="tech_h0"/>
          <p:cNvSpPr/>
          <p:nvPr/>
        </p:nvSpPr>
        <p:spPr>
          <a:xfrm>
            <a:off x="457200" y="2000000"/>
            <a:ext cx="2774400" cy="50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7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React 19</a:t>
            </a:r>
          </a:p>
        </p:txBody>
      </p:sp>
      <p:sp>
        <p:nvSpPr>
          <p:cNvPr id="31" name="tech_d0"/>
          <p:cNvSpPr/>
          <p:nvPr/>
        </p:nvSpPr>
        <p:spPr>
          <a:xfrm>
            <a:off x="457200" y="2550000"/>
            <a:ext cx="2774400" cy="12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4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並行レンダリング・Transitions対応
UIの再利用性・エコシステムの成熟度</a:t>
            </a:r>
          </a:p>
        </p:txBody>
      </p:sp>
      <p:sp>
        <p:nvSpPr>
          <p:cNvPr id="32" name="tech_h1"/>
          <p:cNvSpPr/>
          <p:nvPr/>
        </p:nvSpPr>
        <p:spPr>
          <a:xfrm>
            <a:off x="3291600" y="2000000"/>
            <a:ext cx="2774400" cy="50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7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TypeScript 5</a:t>
            </a:r>
          </a:p>
        </p:txBody>
      </p:sp>
      <p:sp>
        <p:nvSpPr>
          <p:cNvPr id="33" name="tech_d1"/>
          <p:cNvSpPr/>
          <p:nvPr/>
        </p:nvSpPr>
        <p:spPr>
          <a:xfrm>
            <a:off x="3291600" y="2550000"/>
            <a:ext cx="2774400" cy="12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4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API型〜UIのProps型まで一貫した型安全
コンパイル時バグ検出</a:t>
            </a:r>
          </a:p>
        </p:txBody>
      </p:sp>
      <p:sp>
        <p:nvSpPr>
          <p:cNvPr id="34" name="tech_h2"/>
          <p:cNvSpPr/>
          <p:nvPr/>
        </p:nvSpPr>
        <p:spPr>
          <a:xfrm>
            <a:off x="6126000" y="2000000"/>
            <a:ext cx="2774400" cy="50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7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Vite 6</a:t>
            </a:r>
          </a:p>
        </p:txBody>
      </p:sp>
      <p:sp>
        <p:nvSpPr>
          <p:cNvPr id="35" name="tech_d2"/>
          <p:cNvSpPr/>
          <p:nvPr/>
        </p:nvSpPr>
        <p:spPr>
          <a:xfrm>
            <a:off x="6126000" y="2550000"/>
            <a:ext cx="2774400" cy="12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4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webpackと比べてビルドが10倍以上高速
HMRが即時反映で開発体験が大幅向上</a:t>
            </a:r>
          </a:p>
        </p:txBody>
      </p:sp>
      <p:sp>
        <p:nvSpPr>
          <p:cNvPr id="36" name="tech_h3"/>
          <p:cNvSpPr/>
          <p:nvPr/>
        </p:nvSpPr>
        <p:spPr>
          <a:xfrm>
            <a:off x="8960400" y="2000000"/>
            <a:ext cx="2774400" cy="50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7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Tailwind CSS 4</a:t>
            </a:r>
          </a:p>
        </p:txBody>
      </p:sp>
      <p:sp>
        <p:nvSpPr>
          <p:cNvPr id="37" name="tech_d3"/>
          <p:cNvSpPr/>
          <p:nvPr/>
        </p:nvSpPr>
        <p:spPr>
          <a:xfrm>
            <a:off x="8960400" y="2550000"/>
            <a:ext cx="2774400" cy="12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4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ユーティリティファーストで設計の一貫性
テーマシステムもCSS変数で完結</a:t>
            </a:r>
          </a:p>
        </p:txBody>
      </p:sp>
      <p:sp>
        <p:nvSpPr>
          <p:cNvPr id="50" name="rq_h"/>
          <p:cNvSpPr/>
          <p:nvPr/>
        </p:nvSpPr>
        <p:spPr>
          <a:xfrm>
            <a:off x="457200" y="3950000"/>
            <a:ext cx="11277600" cy="450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700" b="1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サーバー状態管理: TanStack Query（React Query v5）</a:t>
            </a:r>
          </a:p>
        </p:txBody>
      </p:sp>
      <p:sp>
        <p:nvSpPr>
          <p:cNvPr id="60" name="rq_k0"/>
          <p:cNvSpPr/>
          <p:nvPr/>
        </p:nvSpPr>
        <p:spPr>
          <a:xfrm>
            <a:off x="457200" y="4500000"/>
            <a:ext cx="2774400" cy="43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4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① 30秒キャッシュ</a:t>
            </a:r>
          </a:p>
        </p:txBody>
      </p:sp>
      <p:sp>
        <p:nvSpPr>
          <p:cNvPr id="61" name="rq_v0"/>
          <p:cNvSpPr/>
          <p:nvPr/>
        </p:nvSpPr>
        <p:spPr>
          <a:xfrm>
            <a:off x="457200" y="5000000"/>
            <a:ext cx="2774400" cy="4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3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不要なAPIリクエストを削減</a:t>
            </a:r>
          </a:p>
        </p:txBody>
      </p:sp>
      <p:sp>
        <p:nvSpPr>
          <p:cNvPr id="62" name="rq_k1"/>
          <p:cNvSpPr/>
          <p:nvPr/>
        </p:nvSpPr>
        <p:spPr>
          <a:xfrm>
            <a:off x="3291600" y="4500000"/>
            <a:ext cx="2774400" cy="43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4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② mutate + invalidate</a:t>
            </a:r>
          </a:p>
        </p:txBody>
      </p:sp>
      <p:sp>
        <p:nvSpPr>
          <p:cNvPr id="63" name="rq_v1"/>
          <p:cNvSpPr/>
          <p:nvPr/>
        </p:nvSpPr>
        <p:spPr>
          <a:xfrm>
            <a:off x="3291600" y="5000000"/>
            <a:ext cx="2774400" cy="4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3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データ更新後に自動再取得</a:t>
            </a:r>
          </a:p>
        </p:txBody>
      </p:sp>
      <p:sp>
        <p:nvSpPr>
          <p:cNvPr id="64" name="rq_k2"/>
          <p:cNvSpPr/>
          <p:nvPr/>
        </p:nvSpPr>
        <p:spPr>
          <a:xfrm>
            <a:off x="6126000" y="4500000"/>
            <a:ext cx="2774400" cy="43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4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③ 楽観的更新</a:t>
            </a:r>
          </a:p>
        </p:txBody>
      </p:sp>
      <p:sp>
        <p:nvSpPr>
          <p:cNvPr id="65" name="rq_v2"/>
          <p:cNvSpPr/>
          <p:nvPr/>
        </p:nvSpPr>
        <p:spPr>
          <a:xfrm>
            <a:off x="6126000" y="5000000"/>
            <a:ext cx="2774400" cy="4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3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UIが即時反応しUXが向上</a:t>
            </a:r>
          </a:p>
        </p:txBody>
      </p:sp>
      <p:sp>
        <p:nvSpPr>
          <p:cNvPr id="66" name="rq_k3"/>
          <p:cNvSpPr/>
          <p:nvPr/>
        </p:nvSpPr>
        <p:spPr>
          <a:xfrm>
            <a:off x="8960400" y="4500000"/>
            <a:ext cx="2774400" cy="43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4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④ エラーリトライ</a:t>
            </a:r>
          </a:p>
        </p:txBody>
      </p:sp>
      <p:sp>
        <p:nvSpPr>
          <p:cNvPr id="67" name="rq_v3"/>
          <p:cNvSpPr/>
          <p:nvPr/>
        </p:nvSpPr>
        <p:spPr>
          <a:xfrm>
            <a:off x="8960400" y="5000000"/>
            <a:ext cx="2774400" cy="4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 fontScale="92500" lnSpcReduction="20000"/>
          </a:bodyPr>
          <a:lstStyle/>
          <a:p>
            <a:pPr algn="ctr"/>
            <a:r>
              <a:rPr lang="ja-JP" altLang="en-US" sz="13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ネットワーク不安定な会場でも安定動作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1" name="topbar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2" name="lstrip"/>
          <p:cNvSpPr/>
          <p:nvPr/>
        </p:nvSpPr>
        <p:spPr>
          <a:xfrm>
            <a:off x="0" y="1143000"/>
            <a:ext cx="18000" cy="5715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3" name="section_lbl"/>
          <p:cNvSpPr txBox="1"/>
          <p:nvPr/>
        </p:nvSpPr>
        <p:spPr>
          <a:xfrm>
            <a:off x="10692000" y="80000"/>
            <a:ext cx="1400000" cy="3077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r"/>
            <a:r>
              <a:rPr lang="ja-JP" altLang="en-US" sz="1400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Section 04</a:t>
            </a:r>
          </a:p>
        </p:txBody>
      </p:sp>
      <p:sp>
        <p:nvSpPr>
          <p:cNvPr id="14" name="title_txt"/>
          <p:cNvSpPr txBox="1"/>
          <p:nvPr/>
        </p:nvSpPr>
        <p:spPr>
          <a:xfrm>
            <a:off x="457200" y="248334"/>
            <a:ext cx="9777600" cy="64633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ja-JP" altLang="en-US" sz="3600" b="1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バックエンド技術スタック</a:t>
            </a:r>
          </a:p>
        </p:txBody>
      </p:sp>
      <p:sp>
        <p:nvSpPr>
          <p:cNvPr id="20" name="stack_lbl"/>
          <p:cNvSpPr/>
          <p:nvPr/>
        </p:nvSpPr>
        <p:spPr>
          <a:xfrm>
            <a:off x="457200" y="1400000"/>
            <a:ext cx="11277600" cy="480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800" b="1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Node.js + Express 5 + TypeScript + Prisma ORM + PostgreSQL 16</a:t>
            </a:r>
          </a:p>
        </p:txBody>
      </p:sp>
      <p:sp>
        <p:nvSpPr>
          <p:cNvPr id="30" name="tech_h0"/>
          <p:cNvSpPr/>
          <p:nvPr/>
        </p:nvSpPr>
        <p:spPr>
          <a:xfrm>
            <a:off x="457200" y="2000000"/>
            <a:ext cx="2774400" cy="50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7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Express 5</a:t>
            </a:r>
          </a:p>
        </p:txBody>
      </p:sp>
      <p:sp>
        <p:nvSpPr>
          <p:cNvPr id="31" name="tech_d0"/>
          <p:cNvSpPr/>
          <p:nvPr/>
        </p:nvSpPr>
        <p:spPr>
          <a:xfrm>
            <a:off x="457200" y="2550000"/>
            <a:ext cx="2774400" cy="12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4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軽量・柔軟
ミドルウェア合成が直感的</a:t>
            </a:r>
          </a:p>
        </p:txBody>
      </p:sp>
      <p:sp>
        <p:nvSpPr>
          <p:cNvPr id="32" name="tech_h1"/>
          <p:cNvSpPr/>
          <p:nvPr/>
        </p:nvSpPr>
        <p:spPr>
          <a:xfrm>
            <a:off x="3291600" y="2000000"/>
            <a:ext cx="2774400" cy="50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7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TypeScript</a:t>
            </a:r>
          </a:p>
        </p:txBody>
      </p:sp>
      <p:sp>
        <p:nvSpPr>
          <p:cNvPr id="33" name="tech_d1"/>
          <p:cNvSpPr/>
          <p:nvPr/>
        </p:nvSpPr>
        <p:spPr>
          <a:xfrm>
            <a:off x="3291600" y="2550000"/>
            <a:ext cx="2774400" cy="12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4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フロント</a:t>
            </a:r>
            <a:r>
              <a:rPr lang="ja-JP" altLang="en-US" sz="12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と</a:t>
            </a:r>
            <a:r>
              <a:rPr lang="ja-JP" altLang="en-US" sz="14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バック</a:t>
            </a:r>
            <a:r>
              <a:rPr lang="ja-JP" altLang="en-US" sz="12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で</a:t>
            </a:r>
            <a:r>
              <a:rPr lang="ja-JP" altLang="en-US" sz="14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型定義</a:t>
            </a:r>
            <a:r>
              <a:rPr lang="ja-JP" altLang="en-US" sz="12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を</a:t>
            </a:r>
            <a:r>
              <a:rPr lang="ja-JP" altLang="en-US" sz="14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共有
APIの型ズレによるバグを根絶</a:t>
            </a:r>
          </a:p>
        </p:txBody>
      </p:sp>
      <p:sp>
        <p:nvSpPr>
          <p:cNvPr id="34" name="tech_h2"/>
          <p:cNvSpPr/>
          <p:nvPr/>
        </p:nvSpPr>
        <p:spPr>
          <a:xfrm>
            <a:off x="6126000" y="2000000"/>
            <a:ext cx="2774400" cy="50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7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Prisma ORM</a:t>
            </a:r>
          </a:p>
        </p:txBody>
      </p:sp>
      <p:sp>
        <p:nvSpPr>
          <p:cNvPr id="35" name="tech_d2"/>
          <p:cNvSpPr/>
          <p:nvPr/>
        </p:nvSpPr>
        <p:spPr>
          <a:xfrm>
            <a:off x="6126000" y="2550000"/>
            <a:ext cx="2774400" cy="12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4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スキーマ → DB定義・</a:t>
            </a:r>
            <a:r>
              <a:rPr lang="ja-JP" altLang="en-US" sz="140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TS型を</a:t>
            </a:r>
            <a:endParaRPr lang="en-US" altLang="ja-JP" sz="1400" dirty="0">
              <a:solidFill>
                <a:srgbClr val="2D2D2D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  <a:p>
            <a:pPr algn="ctr"/>
            <a:r>
              <a:rPr lang="ja-JP" altLang="en-US" sz="140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同時</a:t>
            </a:r>
            <a:r>
              <a:rPr lang="ja-JP" altLang="en-US" sz="14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生成
マイグレーション</a:t>
            </a:r>
            <a:r>
              <a:rPr lang="ja-JP" altLang="en-US" sz="140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履歴を</a:t>
            </a:r>
            <a:endParaRPr lang="en-US" altLang="ja-JP" sz="1400" dirty="0">
              <a:solidFill>
                <a:srgbClr val="2D2D2D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  <a:p>
            <a:pPr algn="ctr"/>
            <a:r>
              <a:rPr lang="ja-JP" altLang="en-US" sz="140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コード</a:t>
            </a:r>
            <a:r>
              <a:rPr lang="ja-JP" altLang="en-US" sz="14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管理</a:t>
            </a:r>
          </a:p>
        </p:txBody>
      </p:sp>
      <p:sp>
        <p:nvSpPr>
          <p:cNvPr id="36" name="tech_h3"/>
          <p:cNvSpPr/>
          <p:nvPr/>
        </p:nvSpPr>
        <p:spPr>
          <a:xfrm>
            <a:off x="8960400" y="2000000"/>
            <a:ext cx="2774400" cy="50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7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PostgreSQL 16</a:t>
            </a:r>
          </a:p>
        </p:txBody>
      </p:sp>
      <p:sp>
        <p:nvSpPr>
          <p:cNvPr id="37" name="tech_d3"/>
          <p:cNvSpPr/>
          <p:nvPr/>
        </p:nvSpPr>
        <p:spPr>
          <a:xfrm>
            <a:off x="8960400" y="2550000"/>
            <a:ext cx="2774400" cy="12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4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ACID準拠の信頼性
Prismaとの相性良好
複雑なリレーション</a:t>
            </a:r>
            <a:r>
              <a:rPr lang="ja-JP" altLang="en-US" sz="140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を安全</a:t>
            </a:r>
            <a:endParaRPr lang="en-US" altLang="ja-JP" sz="1400" dirty="0">
              <a:solidFill>
                <a:srgbClr val="2D2D2D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  <a:p>
            <a:pPr algn="ctr"/>
            <a:r>
              <a:rPr lang="ja-JP" altLang="en-US" sz="140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に</a:t>
            </a:r>
            <a:r>
              <a:rPr lang="ja-JP" altLang="en-US" sz="14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扱える</a:t>
            </a:r>
          </a:p>
        </p:txBody>
      </p:sp>
      <p:sp>
        <p:nvSpPr>
          <p:cNvPr id="50" name="prisma_h"/>
          <p:cNvSpPr/>
          <p:nvPr/>
        </p:nvSpPr>
        <p:spPr>
          <a:xfrm>
            <a:off x="457200" y="3950000"/>
            <a:ext cx="11277600" cy="43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6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Prisma ORM の強み: スキーマ変更が即座にTypeScriptの型エラーとして検出される</a:t>
            </a:r>
          </a:p>
        </p:txBody>
      </p:sp>
      <p:sp>
        <p:nvSpPr>
          <p:cNvPr id="51" name="prisma_b"/>
          <p:cNvSpPr/>
          <p:nvPr/>
        </p:nvSpPr>
        <p:spPr>
          <a:xfrm>
            <a:off x="457200" y="4450000"/>
            <a:ext cx="11277600" cy="13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 fontScale="92500" lnSpcReduction="10000"/>
          </a:bodyPr>
          <a:lstStyle/>
          <a:p>
            <a:pPr algn="ctr"/>
            <a:r>
              <a:rPr lang="ja-JP" altLang="en-US" sz="1300" dirty="0">
                <a:solidFill>
                  <a:srgbClr val="1A5276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model Book {
  id       String  @id
  title    String
  isbn     String?
  coverUrl String?  ← 追加した瞬間にTypeScriptが全参照箇所をチェック
}
「DB変更を</a:t>
            </a:r>
            <a:r>
              <a:rPr lang="ja-JP" altLang="en-US" sz="1300">
                <a:solidFill>
                  <a:srgbClr val="1A5276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忘れてサービスが落ちる</a:t>
            </a:r>
            <a:r>
              <a:rPr lang="ja-JP" altLang="en-US" sz="1300" dirty="0">
                <a:solidFill>
                  <a:srgbClr val="1A5276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」というパターンを構造的に防ぎます。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1" name="topbar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2" name="lstrip"/>
          <p:cNvSpPr/>
          <p:nvPr/>
        </p:nvSpPr>
        <p:spPr>
          <a:xfrm>
            <a:off x="0" y="1143000"/>
            <a:ext cx="18000" cy="5715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3" name="section_lbl"/>
          <p:cNvSpPr txBox="1"/>
          <p:nvPr/>
        </p:nvSpPr>
        <p:spPr>
          <a:xfrm>
            <a:off x="10692000" y="80000"/>
            <a:ext cx="1400000" cy="3077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r"/>
            <a:r>
              <a:rPr lang="ja-JP" altLang="en-US" sz="1400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Section 04</a:t>
            </a:r>
          </a:p>
        </p:txBody>
      </p:sp>
      <p:sp>
        <p:nvSpPr>
          <p:cNvPr id="14" name="title_txt"/>
          <p:cNvSpPr txBox="1"/>
          <p:nvPr/>
        </p:nvSpPr>
        <p:spPr>
          <a:xfrm>
            <a:off x="457200" y="248504"/>
            <a:ext cx="9777600" cy="64633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ja-JP" altLang="en-US" sz="3600" b="1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インフラ・サービス全体像</a:t>
            </a:r>
          </a:p>
        </p:txBody>
      </p:sp>
      <p:sp>
        <p:nvSpPr>
          <p:cNvPr id="20" name="auth_h"/>
          <p:cNvSpPr/>
          <p:nvPr/>
        </p:nvSpPr>
        <p:spPr>
          <a:xfrm>
            <a:off x="457200" y="1400000"/>
            <a:ext cx="5608800" cy="50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700" b="1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認証</a:t>
            </a:r>
            <a:r>
              <a:rPr lang="ja-JP" altLang="en-US" sz="17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: Firebase Authentication</a:t>
            </a:r>
          </a:p>
        </p:txBody>
      </p:sp>
      <p:sp>
        <p:nvSpPr>
          <p:cNvPr id="21" name="auth_b"/>
          <p:cNvSpPr/>
          <p:nvPr/>
        </p:nvSpPr>
        <p:spPr>
          <a:xfrm>
            <a:off x="457200" y="1950000"/>
            <a:ext cx="5608800" cy="10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4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Email / パスワード + Google OAuth 対応
IDトークンをExpress側で検証 → セキュアな設計
プロバイダ追加してもバックエンド変更ゼロ</a:t>
            </a:r>
          </a:p>
        </p:txBody>
      </p:sp>
      <p:sp>
        <p:nvSpPr>
          <p:cNvPr id="22" name="r2_h"/>
          <p:cNvSpPr/>
          <p:nvPr/>
        </p:nvSpPr>
        <p:spPr>
          <a:xfrm>
            <a:off x="6126000" y="1400000"/>
            <a:ext cx="5608800" cy="50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700" b="1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 </a:t>
            </a:r>
            <a:r>
              <a:rPr lang="ja-JP" altLang="en-US" sz="17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ストレージ: Cloudflare R2（S3互換）</a:t>
            </a:r>
          </a:p>
        </p:txBody>
      </p:sp>
      <p:sp>
        <p:nvSpPr>
          <p:cNvPr id="23" name="r2_b"/>
          <p:cNvSpPr/>
          <p:nvPr/>
        </p:nvSpPr>
        <p:spPr>
          <a:xfrm>
            <a:off x="6126000" y="1950000"/>
            <a:ext cx="5608800" cy="10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4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データ転送料ゼロ（AWS S3: $0.09/GB → R2: $0.00）
Presigned URL で画像をブラウザからR2へ直接PUT
バックエンドのメモリ・CPU負荷ゼロ</a:t>
            </a:r>
          </a:p>
        </p:txBody>
      </p:sp>
      <p:sp>
        <p:nvSpPr>
          <p:cNvPr id="30" name="infra_h"/>
          <p:cNvSpPr/>
          <p:nvPr/>
        </p:nvSpPr>
        <p:spPr>
          <a:xfrm>
            <a:off x="457200" y="3150000"/>
            <a:ext cx="11277600" cy="430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600" b="1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インフラ構成: Cloudflare CDN → ConoHa VPS (Docker Compose) → PostgreSQL</a:t>
            </a:r>
          </a:p>
        </p:txBody>
      </p:sp>
      <p:sp>
        <p:nvSpPr>
          <p:cNvPr id="40" name="inf_h0"/>
          <p:cNvSpPr/>
          <p:nvPr/>
        </p:nvSpPr>
        <p:spPr>
          <a:xfrm>
            <a:off x="457200" y="3730000"/>
            <a:ext cx="2774400" cy="60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5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Cloudflare CDN</a:t>
            </a:r>
          </a:p>
        </p:txBody>
      </p:sp>
      <p:sp>
        <p:nvSpPr>
          <p:cNvPr id="41" name="inf_d0"/>
          <p:cNvSpPr/>
          <p:nvPr/>
        </p:nvSpPr>
        <p:spPr>
          <a:xfrm>
            <a:off x="457200" y="4400000"/>
            <a:ext cx="2774400" cy="11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3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DDoS保護・HTTP/3対応
静的アセット: 1年immutableキャッシュ</a:t>
            </a:r>
          </a:p>
        </p:txBody>
      </p:sp>
      <p:sp>
        <p:nvSpPr>
          <p:cNvPr id="42" name="inf_h1"/>
          <p:cNvSpPr/>
          <p:nvPr/>
        </p:nvSpPr>
        <p:spPr>
          <a:xfrm>
            <a:off x="3291600" y="3730000"/>
            <a:ext cx="2774400" cy="60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5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ConoHa VPS
Ubuntu 22.04</a:t>
            </a:r>
          </a:p>
        </p:txBody>
      </p:sp>
      <p:sp>
        <p:nvSpPr>
          <p:cNvPr id="43" name="inf_d1"/>
          <p:cNvSpPr/>
          <p:nvPr/>
        </p:nvSpPr>
        <p:spPr>
          <a:xfrm>
            <a:off x="3291600" y="4400000"/>
            <a:ext cx="2774400" cy="11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3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Docker Compose で
Nginx / Express / PostgreSQL</a:t>
            </a:r>
          </a:p>
        </p:txBody>
      </p:sp>
      <p:sp>
        <p:nvSpPr>
          <p:cNvPr id="44" name="inf_h2"/>
          <p:cNvSpPr/>
          <p:nvPr/>
        </p:nvSpPr>
        <p:spPr>
          <a:xfrm>
            <a:off x="6126000" y="3730000"/>
            <a:ext cx="2774400" cy="60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5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Nginx</a:t>
            </a:r>
          </a:p>
        </p:txBody>
      </p:sp>
      <p:sp>
        <p:nvSpPr>
          <p:cNvPr id="45" name="inf_d2"/>
          <p:cNvSpPr/>
          <p:nvPr/>
        </p:nvSpPr>
        <p:spPr>
          <a:xfrm>
            <a:off x="6126000" y="4400000"/>
            <a:ext cx="2774400" cy="11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3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React SPA（静的配信）
/api → Express へリバースプロキシ</a:t>
            </a:r>
          </a:p>
        </p:txBody>
      </p:sp>
      <p:sp>
        <p:nvSpPr>
          <p:cNvPr id="46" name="inf_h3"/>
          <p:cNvSpPr/>
          <p:nvPr/>
        </p:nvSpPr>
        <p:spPr>
          <a:xfrm>
            <a:off x="8960400" y="3730000"/>
            <a:ext cx="2774400" cy="60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5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Cloudflare R2</a:t>
            </a:r>
          </a:p>
        </p:txBody>
      </p:sp>
      <p:sp>
        <p:nvSpPr>
          <p:cNvPr id="47" name="inf_d3"/>
          <p:cNvSpPr/>
          <p:nvPr/>
        </p:nvSpPr>
        <p:spPr>
          <a:xfrm>
            <a:off x="8960400" y="4400000"/>
            <a:ext cx="2774400" cy="11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3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マップ画像・書影等
転送料ゼロのオブジェクトストレージ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dirty="0"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1" name="topbar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2" name="lstrip"/>
          <p:cNvSpPr/>
          <p:nvPr/>
        </p:nvSpPr>
        <p:spPr>
          <a:xfrm>
            <a:off x="0" y="1143000"/>
            <a:ext cx="18000" cy="5715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3" name="section_lbl"/>
          <p:cNvSpPr txBox="1"/>
          <p:nvPr/>
        </p:nvSpPr>
        <p:spPr>
          <a:xfrm>
            <a:off x="10692000" y="80000"/>
            <a:ext cx="1400000" cy="3077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r"/>
            <a:r>
              <a:rPr lang="ja-JP" altLang="en-US" sz="1400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Section 04</a:t>
            </a:r>
          </a:p>
        </p:txBody>
      </p:sp>
      <p:sp>
        <p:nvSpPr>
          <p:cNvPr id="14" name="title_txt"/>
          <p:cNvSpPr txBox="1"/>
          <p:nvPr/>
        </p:nvSpPr>
        <p:spPr>
          <a:xfrm>
            <a:off x="457200" y="248504"/>
            <a:ext cx="9777600" cy="64633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ja-JP" altLang="en-US" sz="36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アーキテクチャ構成</a:t>
            </a:r>
            <a:endParaRPr lang="ja-JP" altLang="en-US" sz="3600" b="1" dirty="0">
              <a:solidFill>
                <a:srgbClr val="1A1A1A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pic>
        <p:nvPicPr>
          <p:cNvPr id="3" name="図 2" descr="ダイアグラム, 概略図&#10;&#10;自動的に生成された説明">
            <a:extLst>
              <a:ext uri="{FF2B5EF4-FFF2-40B4-BE49-F238E27FC236}">
                <a16:creationId xmlns:a16="http://schemas.microsoft.com/office/drawing/2014/main" id="{CDFD05CE-AD04-792B-E3C4-702A6F7C21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645" y="1266507"/>
            <a:ext cx="6207910" cy="5567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339724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03BD6076-174F-B314-7114-457F5AFB50B2}"/>
              </a:ext>
            </a:extLst>
          </p:cNvPr>
          <p:cNvSpPr/>
          <p:nvPr/>
        </p:nvSpPr>
        <p:spPr>
          <a:xfrm>
            <a:off x="0" y="0"/>
            <a:ext cx="9235440" cy="6858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AA45EBDC-326E-2B0B-88C0-094F592629DC}"/>
              </a:ext>
            </a:extLst>
          </p:cNvPr>
          <p:cNvSpPr txBox="1"/>
          <p:nvPr/>
        </p:nvSpPr>
        <p:spPr>
          <a:xfrm>
            <a:off x="1418767" y="2705725"/>
            <a:ext cx="6397905" cy="144655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8800" b="1" spc="300" dirty="0">
                <a:solidFill>
                  <a:schemeClr val="bg1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5</a:t>
            </a:r>
            <a:r>
              <a:rPr kumimoji="1" lang="en-US" altLang="ja-JP" sz="8800" b="1" spc="300" dirty="0">
                <a:solidFill>
                  <a:schemeClr val="bg1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.</a:t>
            </a:r>
            <a:r>
              <a:rPr kumimoji="1" lang="ja-JP" altLang="en-US" sz="8800" b="1" spc="300">
                <a:solidFill>
                  <a:schemeClr val="bg1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 設計思想</a:t>
            </a:r>
            <a:endParaRPr kumimoji="1" lang="ja-JP" altLang="en-US" sz="5400" b="1" spc="300">
              <a:solidFill>
                <a:schemeClr val="bg1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339919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dirty="0"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1" name="topbar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2" name="lstrip"/>
          <p:cNvSpPr/>
          <p:nvPr/>
        </p:nvSpPr>
        <p:spPr>
          <a:xfrm>
            <a:off x="0" y="1143000"/>
            <a:ext cx="18000" cy="5715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3" name="section_lbl"/>
          <p:cNvSpPr txBox="1"/>
          <p:nvPr/>
        </p:nvSpPr>
        <p:spPr>
          <a:xfrm>
            <a:off x="10692000" y="80000"/>
            <a:ext cx="1400000" cy="3077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r"/>
            <a:r>
              <a:rPr lang="ja-JP" altLang="en-US" sz="1400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Section 05</a:t>
            </a:r>
          </a:p>
        </p:txBody>
      </p:sp>
      <p:sp>
        <p:nvSpPr>
          <p:cNvPr id="14" name="title_txt"/>
          <p:cNvSpPr txBox="1"/>
          <p:nvPr/>
        </p:nvSpPr>
        <p:spPr>
          <a:xfrm>
            <a:off x="457200" y="226731"/>
            <a:ext cx="3364992" cy="70788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ja-JP" altLang="en-US" sz="4000" b="1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設計の</a:t>
            </a:r>
            <a:r>
              <a:rPr lang="ja-JP" altLang="en-US" sz="40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出発点 </a:t>
            </a:r>
            <a:endParaRPr lang="ja-JP" altLang="en-US" sz="3600" b="1" dirty="0">
              <a:solidFill>
                <a:srgbClr val="1A1A1A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20" name="bef_h"/>
          <p:cNvSpPr/>
          <p:nvPr/>
        </p:nvSpPr>
        <p:spPr>
          <a:xfrm>
            <a:off x="457200" y="1400000"/>
            <a:ext cx="5538800" cy="50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20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【Before】</a:t>
            </a:r>
          </a:p>
        </p:txBody>
      </p:sp>
      <p:sp>
        <p:nvSpPr>
          <p:cNvPr id="21" name="bef_b"/>
          <p:cNvSpPr/>
          <p:nvPr/>
        </p:nvSpPr>
        <p:spPr>
          <a:xfrm>
            <a:off x="457200" y="2000000"/>
            <a:ext cx="5538800" cy="20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6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公式配布の紙マップ
＋
Googleスプレッドシートの購入リスト
↓
当日、</a:t>
            </a:r>
            <a:r>
              <a:rPr lang="ja-JP" altLang="en-US" sz="160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紙とペンを</a:t>
            </a:r>
            <a:r>
              <a:rPr lang="ja-JP" altLang="en-US" sz="16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両手に会場を歩き回る</a:t>
            </a:r>
          </a:p>
        </p:txBody>
      </p:sp>
      <p:sp>
        <p:nvSpPr>
          <p:cNvPr id="22" name="aft_h"/>
          <p:cNvSpPr/>
          <p:nvPr/>
        </p:nvSpPr>
        <p:spPr>
          <a:xfrm>
            <a:off x="6196000" y="1400000"/>
            <a:ext cx="5538800" cy="500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2000" b="1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【After】</a:t>
            </a:r>
          </a:p>
        </p:txBody>
      </p:sp>
      <p:sp>
        <p:nvSpPr>
          <p:cNvPr id="23" name="aft_b"/>
          <p:cNvSpPr/>
          <p:nvPr/>
        </p:nvSpPr>
        <p:spPr>
          <a:xfrm>
            <a:off x="6196000" y="2000000"/>
            <a:ext cx="5538800" cy="2000000"/>
          </a:xfrm>
          <a:prstGeom prst="rect">
            <a:avLst/>
          </a:prstGeom>
          <a:solidFill>
            <a:srgbClr val="FFF9C4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2800" dirty="0">
                <a:solidFill>
                  <a:srgbClr val="1A1A1A"/>
                </a:solidFill>
                <a:latin typeface="Reggae One" pitchFamily="2" charset="-128"/>
                <a:ea typeface="Reggae One" pitchFamily="2" charset="-128"/>
              </a:rPr>
              <a:t>同人</a:t>
            </a:r>
            <a:r>
              <a:rPr lang="ja-JP" altLang="en-US" sz="2800">
                <a:solidFill>
                  <a:srgbClr val="1A1A1A"/>
                </a:solidFill>
                <a:latin typeface="Reggae One" pitchFamily="2" charset="-128"/>
                <a:ea typeface="Reggae One" pitchFamily="2" charset="-128"/>
              </a:rPr>
              <a:t>++</a:t>
            </a:r>
            <a:r>
              <a:rPr lang="ja-JP" altLang="en-US" sz="280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で</a:t>
            </a:r>
            <a:r>
              <a:rPr lang="ja-JP" altLang="en-US" sz="2800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完結</a:t>
            </a:r>
            <a:r>
              <a:rPr lang="ja-JP" altLang="en-US" sz="1700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
</a:t>
            </a:r>
            <a:r>
              <a:rPr lang="ja-JP" altLang="en-US" sz="170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
</a:t>
            </a:r>
            <a:endParaRPr lang="en-US" altLang="ja-JP" sz="1700" dirty="0">
              <a:solidFill>
                <a:srgbClr val="1A1A1A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  <a:p>
            <a:pPr algn="ctr"/>
            <a:endParaRPr lang="en-US" altLang="ja-JP" sz="1700" dirty="0">
              <a:solidFill>
                <a:srgbClr val="1A1A1A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  <a:p>
            <a:pPr algn="ctr"/>
            <a:endParaRPr lang="en-US" altLang="ja-JP" sz="1700" dirty="0">
              <a:solidFill>
                <a:srgbClr val="1A1A1A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  <a:p>
            <a:pPr algn="ctr"/>
            <a:endParaRPr lang="ja-JP" altLang="en-US" sz="1700" dirty="0">
              <a:solidFill>
                <a:srgbClr val="1A1A1A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24" name="insight"/>
          <p:cNvSpPr/>
          <p:nvPr/>
        </p:nvSpPr>
        <p:spPr>
          <a:xfrm>
            <a:off x="457200" y="4250000"/>
            <a:ext cx="11277600" cy="70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800" b="1" dirty="0">
                <a:solidFill>
                  <a:srgbClr val="F3CA00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「既存のやり方</a:t>
            </a:r>
            <a:r>
              <a:rPr lang="ja-JP" altLang="en-US" sz="1800" b="1">
                <a:solidFill>
                  <a:srgbClr val="F3CA00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を全部取っ替え」</a:t>
            </a:r>
            <a:r>
              <a:rPr lang="ja-JP" altLang="en-US" sz="1800" b="1" dirty="0">
                <a:solidFill>
                  <a:srgbClr val="F3CA00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ではなく — 今の</a:t>
            </a:r>
            <a:r>
              <a:rPr lang="ja-JP" altLang="en-US" sz="1800" b="1">
                <a:solidFill>
                  <a:srgbClr val="F3CA00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運用をなるべくデジタル</a:t>
            </a:r>
            <a:r>
              <a:rPr lang="ja-JP" altLang="en-US" sz="1800" b="1" dirty="0">
                <a:solidFill>
                  <a:srgbClr val="F3CA00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に置き換える発想</a:t>
            </a:r>
          </a:p>
        </p:txBody>
      </p:sp>
      <p:sp>
        <p:nvSpPr>
          <p:cNvPr id="25" name="reason"/>
          <p:cNvSpPr txBox="1"/>
          <p:nvPr/>
        </p:nvSpPr>
        <p:spPr>
          <a:xfrm>
            <a:off x="457200" y="5150000"/>
            <a:ext cx="11277600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ja-JP" altLang="en-US" sz="16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これがCSV/Excelインポートを最優先で実装した理由です。長年スプレッドシートで管理してきたデータをゼロから再入力する必要はありません。</a:t>
            </a:r>
          </a:p>
        </p:txBody>
      </p:sp>
      <p:sp>
        <p:nvSpPr>
          <p:cNvPr id="2" name="title_txt">
            <a:extLst>
              <a:ext uri="{FF2B5EF4-FFF2-40B4-BE49-F238E27FC236}">
                <a16:creationId xmlns:a16="http://schemas.microsoft.com/office/drawing/2014/main" id="{8E05988B-ABC2-EE52-C616-272C20F8472A}"/>
              </a:ext>
            </a:extLst>
          </p:cNvPr>
          <p:cNvSpPr txBox="1"/>
          <p:nvPr/>
        </p:nvSpPr>
        <p:spPr>
          <a:xfrm>
            <a:off x="3822192" y="353555"/>
            <a:ext cx="5961888" cy="523220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ja-JP" altLang="en-US" sz="28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 既存フローをそのままデジタルへ</a:t>
            </a:r>
            <a:endParaRPr lang="ja-JP" altLang="en-US" sz="2400" b="1" dirty="0">
              <a:solidFill>
                <a:srgbClr val="1A1A1A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85F14AEC-AB22-11F7-1E55-BF357BB1A93F}"/>
              </a:ext>
            </a:extLst>
          </p:cNvPr>
          <p:cNvSpPr txBox="1"/>
          <p:nvPr/>
        </p:nvSpPr>
        <p:spPr>
          <a:xfrm>
            <a:off x="7774272" y="2761119"/>
            <a:ext cx="2792752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ja-JP" altLang="en-US" sz="180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✅</a:t>
            </a:r>
            <a:r>
              <a:rPr lang="en-US" altLang="ja-JP" sz="1800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 </a:t>
            </a:r>
            <a:r>
              <a:rPr lang="ja-JP" altLang="en-US" sz="180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購入リスト作成
✅</a:t>
            </a:r>
            <a:r>
              <a:rPr lang="en-US" altLang="ja-JP" sz="1800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 </a:t>
            </a:r>
            <a:r>
              <a:rPr lang="ja-JP" altLang="en-US" sz="180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会場MAPナビ
✅ 蔵書管理
✅ リアルタイム支出管理</a:t>
            </a:r>
            <a:endParaRPr kumimoji="1" lang="ja-JP" alt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1" name="topbar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2" name="lstrip"/>
          <p:cNvSpPr/>
          <p:nvPr/>
        </p:nvSpPr>
        <p:spPr>
          <a:xfrm>
            <a:off x="0" y="1143000"/>
            <a:ext cx="18000" cy="5715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3" name="section_lbl"/>
          <p:cNvSpPr txBox="1"/>
          <p:nvPr/>
        </p:nvSpPr>
        <p:spPr>
          <a:xfrm>
            <a:off x="10692000" y="80000"/>
            <a:ext cx="1400000" cy="3077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r"/>
            <a:r>
              <a:rPr lang="ja-JP" altLang="en-US" sz="1400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Section 05</a:t>
            </a:r>
          </a:p>
        </p:txBody>
      </p:sp>
      <p:sp>
        <p:nvSpPr>
          <p:cNvPr id="14" name="title_txt"/>
          <p:cNvSpPr txBox="1"/>
          <p:nvPr/>
        </p:nvSpPr>
        <p:spPr>
          <a:xfrm>
            <a:off x="426400" y="298504"/>
            <a:ext cx="9777600" cy="64633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ja-JP" altLang="en-US" sz="3600" b="1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PWA（Progressive Web App）の採用</a:t>
            </a:r>
          </a:p>
        </p:txBody>
      </p:sp>
      <p:sp>
        <p:nvSpPr>
          <p:cNvPr id="20" name="quote"/>
          <p:cNvSpPr/>
          <p:nvPr/>
        </p:nvSpPr>
        <p:spPr>
          <a:xfrm>
            <a:off x="457200" y="1400000"/>
            <a:ext cx="11277600" cy="600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800" b="1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「App Storeのレビューを待つのは無駄なコストだ」— 同人活動はイベント直前にニーズが急増する</a:t>
            </a:r>
          </a:p>
        </p:txBody>
      </p:sp>
      <p:sp>
        <p:nvSpPr>
          <p:cNvPr id="30" name="ben_h0"/>
          <p:cNvSpPr/>
          <p:nvPr/>
        </p:nvSpPr>
        <p:spPr>
          <a:xfrm>
            <a:off x="457200" y="2200000"/>
            <a:ext cx="2774400" cy="55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6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⚡ 即時デプロイ</a:t>
            </a:r>
          </a:p>
        </p:txBody>
      </p:sp>
      <p:sp>
        <p:nvSpPr>
          <p:cNvPr id="31" name="ben_d0"/>
          <p:cNvSpPr/>
          <p:nvPr/>
        </p:nvSpPr>
        <p:spPr>
          <a:xfrm>
            <a:off x="457200" y="2800000"/>
            <a:ext cx="2774400" cy="14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4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ビルドをVPSにプッシュすれば即日反映
審査不要でイベント前日でも新機能リリース可能</a:t>
            </a:r>
          </a:p>
        </p:txBody>
      </p:sp>
      <p:sp>
        <p:nvSpPr>
          <p:cNvPr id="32" name="ben_h1"/>
          <p:cNvSpPr/>
          <p:nvPr/>
        </p:nvSpPr>
        <p:spPr>
          <a:xfrm>
            <a:off x="3291600" y="2200000"/>
            <a:ext cx="2774400" cy="55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6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🌐 インストール不要</a:t>
            </a:r>
          </a:p>
        </p:txBody>
      </p:sp>
      <p:sp>
        <p:nvSpPr>
          <p:cNvPr id="33" name="ben_d1"/>
          <p:cNvSpPr/>
          <p:nvPr/>
        </p:nvSpPr>
        <p:spPr>
          <a:xfrm>
            <a:off x="3291600" y="2800000"/>
            <a:ext cx="2774400" cy="14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4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ブラウザから直接アクセス
ストアのアカウント不要 — 参入障壁ゼロ</a:t>
            </a:r>
          </a:p>
        </p:txBody>
      </p:sp>
      <p:sp>
        <p:nvSpPr>
          <p:cNvPr id="34" name="ben_h2"/>
          <p:cNvSpPr/>
          <p:nvPr/>
        </p:nvSpPr>
        <p:spPr>
          <a:xfrm>
            <a:off x="6126000" y="2200000"/>
            <a:ext cx="2774400" cy="55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6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📱 ネイティブ同等のUX</a:t>
            </a:r>
          </a:p>
        </p:txBody>
      </p:sp>
      <p:sp>
        <p:nvSpPr>
          <p:cNvPr id="35" name="ben_d2"/>
          <p:cNvSpPr/>
          <p:nvPr/>
        </p:nvSpPr>
        <p:spPr>
          <a:xfrm>
            <a:off x="6126000" y="2800000"/>
            <a:ext cx="2774400" cy="14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4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ホーム画面追加・オフライン対応・
プッシュ通知が可能</a:t>
            </a:r>
          </a:p>
        </p:txBody>
      </p:sp>
      <p:sp>
        <p:nvSpPr>
          <p:cNvPr id="36" name="ben_h3"/>
          <p:cNvSpPr/>
          <p:nvPr/>
        </p:nvSpPr>
        <p:spPr>
          <a:xfrm>
            <a:off x="8960400" y="2200000"/>
            <a:ext cx="2774400" cy="55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6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🔄 クロスプラットフォーム</a:t>
            </a:r>
          </a:p>
        </p:txBody>
      </p:sp>
      <p:sp>
        <p:nvSpPr>
          <p:cNvPr id="37" name="ben_d3"/>
          <p:cNvSpPr/>
          <p:nvPr/>
        </p:nvSpPr>
        <p:spPr>
          <a:xfrm>
            <a:off x="8960400" y="2800000"/>
            <a:ext cx="2774400" cy="140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4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iOS・Android・Windowsを
ひとつのコードでカバー</a:t>
            </a:r>
          </a:p>
        </p:txBody>
      </p:sp>
      <p:sp>
        <p:nvSpPr>
          <p:cNvPr id="50" name="ddd_h"/>
          <p:cNvSpPr/>
          <p:nvPr/>
        </p:nvSpPr>
        <p:spPr>
          <a:xfrm>
            <a:off x="457200" y="4450000"/>
            <a:ext cx="11277600" cy="450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600" b="1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🏗️  ドメイン駆動設計（DDD）— システムの中心に「即売会」というドメインを置く</a:t>
            </a:r>
          </a:p>
        </p:txBody>
      </p:sp>
      <p:sp>
        <p:nvSpPr>
          <p:cNvPr id="60" name="ddd_k0"/>
          <p:cNvSpPr/>
          <p:nvPr/>
        </p:nvSpPr>
        <p:spPr>
          <a:xfrm>
            <a:off x="457200" y="5000000"/>
            <a:ext cx="3719200" cy="43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5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機能追加が容易</a:t>
            </a:r>
          </a:p>
        </p:txBody>
      </p:sp>
      <p:sp>
        <p:nvSpPr>
          <p:cNvPr id="61" name="ddd_v0"/>
          <p:cNvSpPr/>
          <p:nvPr/>
        </p:nvSpPr>
        <p:spPr>
          <a:xfrm>
            <a:off x="457200" y="5500000"/>
            <a:ext cx="37192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3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新機能はドメインに追加するだけ</a:t>
            </a:r>
          </a:p>
        </p:txBody>
      </p:sp>
      <p:sp>
        <p:nvSpPr>
          <p:cNvPr id="62" name="ddd_k1"/>
          <p:cNvSpPr/>
          <p:nvPr/>
        </p:nvSpPr>
        <p:spPr>
          <a:xfrm>
            <a:off x="4236400" y="5000000"/>
            <a:ext cx="3719200" cy="43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5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テスト可能</a:t>
            </a:r>
          </a:p>
        </p:txBody>
      </p:sp>
      <p:sp>
        <p:nvSpPr>
          <p:cNvPr id="63" name="ddd_v1"/>
          <p:cNvSpPr/>
          <p:nvPr/>
        </p:nvSpPr>
        <p:spPr>
          <a:xfrm>
            <a:off x="4236400" y="5500000"/>
            <a:ext cx="37192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3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ドメインロジックを独立してテストできる</a:t>
            </a:r>
          </a:p>
        </p:txBody>
      </p:sp>
      <p:sp>
        <p:nvSpPr>
          <p:cNvPr id="64" name="ddd_k2"/>
          <p:cNvSpPr/>
          <p:nvPr/>
        </p:nvSpPr>
        <p:spPr>
          <a:xfrm>
            <a:off x="8015600" y="5000000"/>
            <a:ext cx="3719200" cy="43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5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スケーリングしやすい</a:t>
            </a:r>
          </a:p>
        </p:txBody>
      </p:sp>
      <p:sp>
        <p:nvSpPr>
          <p:cNvPr id="65" name="ddd_v2"/>
          <p:cNvSpPr/>
          <p:nvPr/>
        </p:nvSpPr>
        <p:spPr>
          <a:xfrm>
            <a:off x="8015600" y="5500000"/>
            <a:ext cx="3719200" cy="3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 fontScale="92500"/>
          </a:bodyPr>
          <a:lstStyle/>
          <a:p>
            <a:pPr algn="ctr"/>
            <a:r>
              <a:rPr lang="ja-JP" altLang="en-US" sz="13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DBスケールアップをアプリロジックに影響なく実施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g"/>
          <p:cNvSpPr/>
          <p:nvPr/>
        </p:nvSpPr>
        <p:spPr>
          <a:xfrm>
            <a:off x="68132" y="233888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1" name="topbar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2" name="lstrip"/>
          <p:cNvSpPr/>
          <p:nvPr/>
        </p:nvSpPr>
        <p:spPr>
          <a:xfrm>
            <a:off x="0" y="1143000"/>
            <a:ext cx="18000" cy="5715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3" name="section_lbl"/>
          <p:cNvSpPr txBox="1"/>
          <p:nvPr/>
        </p:nvSpPr>
        <p:spPr>
          <a:xfrm>
            <a:off x="10692000" y="80000"/>
            <a:ext cx="1400000" cy="3077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r"/>
            <a:r>
              <a:rPr lang="ja-JP" altLang="en-US" sz="1400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Section 05</a:t>
            </a:r>
          </a:p>
        </p:txBody>
      </p:sp>
      <p:sp>
        <p:nvSpPr>
          <p:cNvPr id="14" name="title_txt"/>
          <p:cNvSpPr txBox="1"/>
          <p:nvPr/>
        </p:nvSpPr>
        <p:spPr>
          <a:xfrm>
            <a:off x="457200" y="248334"/>
            <a:ext cx="9777600" cy="64633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ja-JP" altLang="en-US" sz="3600" b="1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今後の展開</a:t>
            </a:r>
          </a:p>
        </p:txBody>
      </p:sp>
      <p:sp>
        <p:nvSpPr>
          <p:cNvPr id="21" name="lbl0"/>
          <p:cNvSpPr/>
          <p:nvPr/>
        </p:nvSpPr>
        <p:spPr>
          <a:xfrm>
            <a:off x="1206180" y="2364411"/>
            <a:ext cx="3300000" cy="810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700" b="1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LINE ソーシャルログイン</a:t>
            </a:r>
          </a:p>
        </p:txBody>
      </p:sp>
      <p:sp>
        <p:nvSpPr>
          <p:cNvPr id="22" name="desc0"/>
          <p:cNvSpPr/>
          <p:nvPr/>
        </p:nvSpPr>
        <p:spPr>
          <a:xfrm>
            <a:off x="4566180" y="2364411"/>
            <a:ext cx="6957600" cy="81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5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LINEアカウントでの新規登録・ログイン</a:t>
            </a:r>
          </a:p>
        </p:txBody>
      </p:sp>
      <p:sp>
        <p:nvSpPr>
          <p:cNvPr id="24" name="lbl1"/>
          <p:cNvSpPr/>
          <p:nvPr/>
        </p:nvSpPr>
        <p:spPr>
          <a:xfrm>
            <a:off x="1206180" y="4030890"/>
            <a:ext cx="3300000" cy="810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700" b="1">
                <a:solidFill>
                  <a:schemeClr val="bg1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表紙画像</a:t>
            </a:r>
            <a:r>
              <a:rPr lang="ja-JP" altLang="en-US" sz="1700" b="1" dirty="0">
                <a:solidFill>
                  <a:schemeClr val="bg1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の R2 移行</a:t>
            </a:r>
          </a:p>
        </p:txBody>
      </p:sp>
      <p:sp>
        <p:nvSpPr>
          <p:cNvPr id="25" name="desc1"/>
          <p:cNvSpPr/>
          <p:nvPr/>
        </p:nvSpPr>
        <p:spPr>
          <a:xfrm>
            <a:off x="4566180" y="4030890"/>
            <a:ext cx="6957600" cy="81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5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localStorage → Cloudflare R2 で容量制限を解消</a:t>
            </a:r>
          </a:p>
        </p:txBody>
      </p:sp>
      <p:sp>
        <p:nvSpPr>
          <p:cNvPr id="27" name="lbl2"/>
          <p:cNvSpPr/>
          <p:nvPr/>
        </p:nvSpPr>
        <p:spPr>
          <a:xfrm>
            <a:off x="1206180" y="3197057"/>
            <a:ext cx="3300000" cy="810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700" b="1" dirty="0"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オフライン対応</a:t>
            </a:r>
          </a:p>
        </p:txBody>
      </p:sp>
      <p:sp>
        <p:nvSpPr>
          <p:cNvPr id="28" name="desc2"/>
          <p:cNvSpPr/>
          <p:nvPr/>
        </p:nvSpPr>
        <p:spPr>
          <a:xfrm>
            <a:off x="4566180" y="3182769"/>
            <a:ext cx="6957600" cy="81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5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Service Worker でネット不安定な会場でも利用可能に</a:t>
            </a:r>
          </a:p>
        </p:txBody>
      </p:sp>
      <p:sp>
        <p:nvSpPr>
          <p:cNvPr id="30" name="lbl3"/>
          <p:cNvSpPr/>
          <p:nvPr/>
        </p:nvSpPr>
        <p:spPr>
          <a:xfrm>
            <a:off x="1206180" y="4884411"/>
            <a:ext cx="3300000" cy="81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7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サークル情報 API 連携</a:t>
            </a:r>
          </a:p>
        </p:txBody>
      </p:sp>
      <p:sp>
        <p:nvSpPr>
          <p:cNvPr id="31" name="desc3"/>
          <p:cNvSpPr/>
          <p:nvPr/>
        </p:nvSpPr>
        <p:spPr>
          <a:xfrm>
            <a:off x="4566180" y="4884411"/>
            <a:ext cx="6957600" cy="81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5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公式カタログAPIとの連携で自動入力対応</a:t>
            </a:r>
          </a:p>
        </p:txBody>
      </p:sp>
      <p:sp>
        <p:nvSpPr>
          <p:cNvPr id="33" name="lbl4"/>
          <p:cNvSpPr/>
          <p:nvPr/>
        </p:nvSpPr>
        <p:spPr>
          <a:xfrm>
            <a:off x="1206180" y="5724411"/>
            <a:ext cx="3300000" cy="810000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7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プッシュ通知</a:t>
            </a:r>
          </a:p>
        </p:txBody>
      </p:sp>
      <p:sp>
        <p:nvSpPr>
          <p:cNvPr id="34" name="desc4"/>
          <p:cNvSpPr/>
          <p:nvPr/>
        </p:nvSpPr>
        <p:spPr>
          <a:xfrm>
            <a:off x="4566180" y="5724411"/>
            <a:ext cx="6957600" cy="81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500" dirty="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購入リストの忘れ物リマインダー通知</a:t>
            </a:r>
          </a:p>
        </p:txBody>
      </p:sp>
      <p:sp>
        <p:nvSpPr>
          <p:cNvPr id="2" name="lbl0">
            <a:extLst>
              <a:ext uri="{FF2B5EF4-FFF2-40B4-BE49-F238E27FC236}">
                <a16:creationId xmlns:a16="http://schemas.microsoft.com/office/drawing/2014/main" id="{FCD1BCC6-1261-268A-4EDF-ACBB37257AC9}"/>
              </a:ext>
            </a:extLst>
          </p:cNvPr>
          <p:cNvSpPr/>
          <p:nvPr/>
        </p:nvSpPr>
        <p:spPr>
          <a:xfrm>
            <a:off x="1206180" y="1501800"/>
            <a:ext cx="3300000" cy="810000"/>
          </a:xfrm>
          <a:prstGeom prst="rect">
            <a:avLst/>
          </a:prstGeom>
          <a:solidFill>
            <a:srgbClr val="F313AD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700" b="1">
                <a:solidFill>
                  <a:schemeClr val="bg1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有料プランの追加</a:t>
            </a:r>
            <a:endParaRPr lang="ja-JP" altLang="en-US" sz="1700" b="1" dirty="0">
              <a:solidFill>
                <a:schemeClr val="bg1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3" name="desc0">
            <a:extLst>
              <a:ext uri="{FF2B5EF4-FFF2-40B4-BE49-F238E27FC236}">
                <a16:creationId xmlns:a16="http://schemas.microsoft.com/office/drawing/2014/main" id="{C7C6B4D8-1B73-167C-F22B-6EA837210DC0}"/>
              </a:ext>
            </a:extLst>
          </p:cNvPr>
          <p:cNvSpPr/>
          <p:nvPr/>
        </p:nvSpPr>
        <p:spPr>
          <a:xfrm>
            <a:off x="4566180" y="1501800"/>
            <a:ext cx="6957600" cy="81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500">
                <a:solidFill>
                  <a:srgbClr val="2D2D2D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登録書数の制限・買い物リストの制限解除</a:t>
            </a:r>
            <a:endParaRPr lang="ja-JP" altLang="en-US" sz="1500" dirty="0">
              <a:solidFill>
                <a:srgbClr val="2D2D2D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g"/>
          <p:cNvSpPr/>
          <p:nvPr/>
        </p:nvSpPr>
        <p:spPr>
          <a:xfrm>
            <a:off x="18817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dirty="0"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1" name="topbar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2" name="lstrip"/>
          <p:cNvSpPr/>
          <p:nvPr/>
        </p:nvSpPr>
        <p:spPr>
          <a:xfrm>
            <a:off x="0" y="1143000"/>
            <a:ext cx="18000" cy="5715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3" name="section_lbl"/>
          <p:cNvSpPr txBox="1"/>
          <p:nvPr/>
        </p:nvSpPr>
        <p:spPr>
          <a:xfrm>
            <a:off x="10692000" y="80000"/>
            <a:ext cx="1400000" cy="3077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r"/>
            <a:r>
              <a:rPr lang="ja-JP" altLang="en-US" sz="1400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Section 05</a:t>
            </a:r>
          </a:p>
        </p:txBody>
      </p:sp>
      <p:sp>
        <p:nvSpPr>
          <p:cNvPr id="14" name="title_txt"/>
          <p:cNvSpPr txBox="1"/>
          <p:nvPr/>
        </p:nvSpPr>
        <p:spPr>
          <a:xfrm>
            <a:off x="457200" y="248334"/>
            <a:ext cx="9777600" cy="64633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en-US" altLang="ja-JP" sz="3600" b="1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AI</a:t>
            </a:r>
            <a:r>
              <a:rPr lang="ja-JP" altLang="en-US" sz="36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エージェントの活用</a:t>
            </a:r>
            <a:endParaRPr lang="ja-JP" altLang="en-US" sz="3600" b="1" dirty="0">
              <a:solidFill>
                <a:srgbClr val="1A1A1A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EE68BE7F-CE2C-62DC-FA95-7A550B4D1A4C}"/>
              </a:ext>
            </a:extLst>
          </p:cNvPr>
          <p:cNvGrpSpPr/>
          <p:nvPr/>
        </p:nvGrpSpPr>
        <p:grpSpPr>
          <a:xfrm>
            <a:off x="4202782" y="2311523"/>
            <a:ext cx="2809231" cy="3579812"/>
            <a:chOff x="5261282" y="2081730"/>
            <a:chExt cx="2007913" cy="2714046"/>
          </a:xfrm>
        </p:grpSpPr>
        <p:pic>
          <p:nvPicPr>
            <p:cNvPr id="15" name="図 14" descr="ロゴ&#10;&#10;自動的に生成された説明">
              <a:extLst>
                <a:ext uri="{FF2B5EF4-FFF2-40B4-BE49-F238E27FC236}">
                  <a16:creationId xmlns:a16="http://schemas.microsoft.com/office/drawing/2014/main" id="{C9E50595-8D3E-212D-E955-539C726A57E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261282" y="2081730"/>
              <a:ext cx="1918770" cy="1918770"/>
            </a:xfrm>
            <a:prstGeom prst="rect">
              <a:avLst/>
            </a:prstGeom>
          </p:spPr>
        </p:pic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4D7352BD-442D-4EC2-0465-217988F234DD}"/>
                </a:ext>
              </a:extLst>
            </p:cNvPr>
            <p:cNvSpPr txBox="1"/>
            <p:nvPr/>
          </p:nvSpPr>
          <p:spPr>
            <a:xfrm>
              <a:off x="5398999" y="4095750"/>
              <a:ext cx="1870196" cy="700026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5400" b="1" dirty="0">
                  <a:latin typeface="Tsukushi A Round Gothic Regular" panose="02020400000000000000" pitchFamily="18" charset="-128"/>
                  <a:ea typeface="Tsukushi A Round Gothic Regular" panose="02020400000000000000" pitchFamily="18" charset="-128"/>
                </a:rPr>
                <a:t>Claude </a:t>
              </a:r>
              <a:endParaRPr kumimoji="1" lang="ja-JP" altLang="en-US" sz="5400" b="1"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endParaRPr>
            </a:p>
          </p:txBody>
        </p:sp>
      </p:grpSp>
      <p:grpSp>
        <p:nvGrpSpPr>
          <p:cNvPr id="20" name="グループ化 19">
            <a:extLst>
              <a:ext uri="{FF2B5EF4-FFF2-40B4-BE49-F238E27FC236}">
                <a16:creationId xmlns:a16="http://schemas.microsoft.com/office/drawing/2014/main" id="{82264519-C63D-C61D-AE2B-07AFCE4E28FE}"/>
              </a:ext>
            </a:extLst>
          </p:cNvPr>
          <p:cNvGrpSpPr/>
          <p:nvPr/>
        </p:nvGrpSpPr>
        <p:grpSpPr>
          <a:xfrm>
            <a:off x="8997923" y="4637499"/>
            <a:ext cx="2473754" cy="1930291"/>
            <a:chOff x="7418561" y="4286251"/>
            <a:chExt cx="2473754" cy="1930291"/>
          </a:xfrm>
        </p:grpSpPr>
        <p:pic>
          <p:nvPicPr>
            <p:cNvPr id="17" name="図 16" descr="図形&#10;&#10;低い精度で自動的に生成された説明">
              <a:extLst>
                <a:ext uri="{FF2B5EF4-FFF2-40B4-BE49-F238E27FC236}">
                  <a16:creationId xmlns:a16="http://schemas.microsoft.com/office/drawing/2014/main" id="{BD8D94F4-1FD9-A324-4319-3E00038578E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051683" y="4286251"/>
              <a:ext cx="1253836" cy="1253836"/>
            </a:xfrm>
            <a:prstGeom prst="rect">
              <a:avLst/>
            </a:prstGeom>
          </p:spPr>
        </p:pic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85069FE0-A13B-C973-3643-57E035D106CD}"/>
                </a:ext>
              </a:extLst>
            </p:cNvPr>
            <p:cNvSpPr txBox="1"/>
            <p:nvPr/>
          </p:nvSpPr>
          <p:spPr>
            <a:xfrm>
              <a:off x="7418561" y="5570211"/>
              <a:ext cx="2473754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kumimoji="1" lang="en-US" altLang="ja-JP" sz="3600" b="1" dirty="0">
                  <a:latin typeface="Tsukushi A Round Gothic Regular" panose="02020400000000000000" pitchFamily="18" charset="-128"/>
                  <a:ea typeface="Tsukushi A Round Gothic Regular" panose="02020400000000000000" pitchFamily="18" charset="-128"/>
                </a:rPr>
                <a:t>Notion DB</a:t>
              </a:r>
              <a:endParaRPr kumimoji="1" lang="ja-JP" altLang="en-US" sz="3600" b="1"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endParaRPr>
            </a:p>
          </p:txBody>
        </p:sp>
      </p:grp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8EA2F88E-90D7-36CF-94F6-E58B639552C1}"/>
              </a:ext>
            </a:extLst>
          </p:cNvPr>
          <p:cNvGrpSpPr/>
          <p:nvPr/>
        </p:nvGrpSpPr>
        <p:grpSpPr>
          <a:xfrm>
            <a:off x="8630011" y="1565972"/>
            <a:ext cx="3086074" cy="2087754"/>
            <a:chOff x="8238418" y="1589580"/>
            <a:chExt cx="3086074" cy="2087754"/>
          </a:xfrm>
        </p:grpSpPr>
        <p:pic>
          <p:nvPicPr>
            <p:cNvPr id="29" name="図 28" descr="アイコン&#10;&#10;自動的に生成された説明">
              <a:extLst>
                <a:ext uri="{FF2B5EF4-FFF2-40B4-BE49-F238E27FC236}">
                  <a16:creationId xmlns:a16="http://schemas.microsoft.com/office/drawing/2014/main" id="{4F618C95-82A0-290B-F6F5-A113086ADA4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9056191" y="1589580"/>
              <a:ext cx="1430760" cy="1430760"/>
            </a:xfrm>
            <a:prstGeom prst="rect">
              <a:avLst/>
            </a:prstGeom>
          </p:spPr>
        </p:pic>
        <p:sp>
          <p:nvSpPr>
            <p:cNvPr id="32" name="title_txt">
              <a:extLst>
                <a:ext uri="{FF2B5EF4-FFF2-40B4-BE49-F238E27FC236}">
                  <a16:creationId xmlns:a16="http://schemas.microsoft.com/office/drawing/2014/main" id="{DC3C9CC8-B7B3-F922-C425-88E63A142B55}"/>
                </a:ext>
              </a:extLst>
            </p:cNvPr>
            <p:cNvSpPr txBox="1"/>
            <p:nvPr/>
          </p:nvSpPr>
          <p:spPr>
            <a:xfrm>
              <a:off x="8238418" y="3031003"/>
              <a:ext cx="3086074" cy="646331"/>
            </a:xfrm>
            <a:prstGeom prst="rect">
              <a:avLst/>
            </a:prstGeom>
            <a:noFill/>
          </p:spPr>
          <p:txBody>
            <a:bodyPr wrap="square" rtlCol="0" anchor="t">
              <a:spAutoFit/>
            </a:bodyPr>
            <a:lstStyle/>
            <a:p>
              <a:r>
                <a:rPr lang="en-US" altLang="ja-JP" sz="3600" b="1" dirty="0">
                  <a:solidFill>
                    <a:srgbClr val="1A1A1A"/>
                  </a:solidFill>
                  <a:latin typeface="Tsukushi A Round Gothic Regular" panose="02020400000000000000" pitchFamily="18" charset="-128"/>
                  <a:ea typeface="Tsukushi A Round Gothic Regular" panose="02020400000000000000" pitchFamily="18" charset="-128"/>
                </a:rPr>
                <a:t>Google Form</a:t>
              </a:r>
              <a:endParaRPr lang="ja-JP" altLang="en-US" sz="3600" b="1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endParaRPr>
            </a:p>
          </p:txBody>
        </p:sp>
      </p:grpSp>
      <p:cxnSp>
        <p:nvCxnSpPr>
          <p:cNvPr id="37" name="直線矢印コネクタ 36">
            <a:extLst>
              <a:ext uri="{FF2B5EF4-FFF2-40B4-BE49-F238E27FC236}">
                <a16:creationId xmlns:a16="http://schemas.microsoft.com/office/drawing/2014/main" id="{E52AB3C8-BBDC-58C7-D21D-495FBC438A4F}"/>
              </a:ext>
            </a:extLst>
          </p:cNvPr>
          <p:cNvCxnSpPr>
            <a:cxnSpLocks/>
          </p:cNvCxnSpPr>
          <p:nvPr/>
        </p:nvCxnSpPr>
        <p:spPr>
          <a:xfrm>
            <a:off x="10224916" y="3747781"/>
            <a:ext cx="0" cy="731732"/>
          </a:xfrm>
          <a:prstGeom prst="straightConnector1">
            <a:avLst/>
          </a:prstGeom>
          <a:ln w="825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40" name="図 39" descr="白いバックグラウンドの前にある交通標識&#10;&#10;中程度の精度で自動的に生成された説明">
            <a:extLst>
              <a:ext uri="{FF2B5EF4-FFF2-40B4-BE49-F238E27FC236}">
                <a16:creationId xmlns:a16="http://schemas.microsoft.com/office/drawing/2014/main" id="{BA53CF92-B95D-8DFC-402A-E108F6C34BF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-211387" y="2456885"/>
            <a:ext cx="3087230" cy="3087230"/>
          </a:xfrm>
          <a:prstGeom prst="rect">
            <a:avLst/>
          </a:prstGeom>
        </p:spPr>
      </p:pic>
      <p:cxnSp>
        <p:nvCxnSpPr>
          <p:cNvPr id="41" name="直線矢印コネクタ 40">
            <a:extLst>
              <a:ext uri="{FF2B5EF4-FFF2-40B4-BE49-F238E27FC236}">
                <a16:creationId xmlns:a16="http://schemas.microsoft.com/office/drawing/2014/main" id="{0F281F48-B806-C0BA-4397-88B98E7C4F69}"/>
              </a:ext>
            </a:extLst>
          </p:cNvPr>
          <p:cNvCxnSpPr>
            <a:cxnSpLocks/>
          </p:cNvCxnSpPr>
          <p:nvPr/>
        </p:nvCxnSpPr>
        <p:spPr>
          <a:xfrm flipH="1">
            <a:off x="2475813" y="3953099"/>
            <a:ext cx="1364667" cy="0"/>
          </a:xfrm>
          <a:prstGeom prst="straightConnector1">
            <a:avLst/>
          </a:prstGeom>
          <a:ln w="825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89DA96EA-F616-4757-BF64-D5696CD3968E}"/>
              </a:ext>
            </a:extLst>
          </p:cNvPr>
          <p:cNvCxnSpPr>
            <a:cxnSpLocks/>
          </p:cNvCxnSpPr>
          <p:nvPr/>
        </p:nvCxnSpPr>
        <p:spPr>
          <a:xfrm flipH="1" flipV="1">
            <a:off x="7356693" y="4140106"/>
            <a:ext cx="1868587" cy="1124311"/>
          </a:xfrm>
          <a:prstGeom prst="straightConnector1">
            <a:avLst/>
          </a:prstGeom>
          <a:ln w="825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50" name="図 49" descr="図形&#10;&#10;中程度の精度で自動的に生成された説明">
            <a:extLst>
              <a:ext uri="{FF2B5EF4-FFF2-40B4-BE49-F238E27FC236}">
                <a16:creationId xmlns:a16="http://schemas.microsoft.com/office/drawing/2014/main" id="{35493000-E920-719F-F30C-CD71FF13AD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35394" y="1285052"/>
            <a:ext cx="1189877" cy="1302882"/>
          </a:xfrm>
          <a:prstGeom prst="rect">
            <a:avLst/>
          </a:prstGeom>
        </p:spPr>
      </p:pic>
      <p:cxnSp>
        <p:nvCxnSpPr>
          <p:cNvPr id="51" name="直線矢印コネクタ 50">
            <a:extLst>
              <a:ext uri="{FF2B5EF4-FFF2-40B4-BE49-F238E27FC236}">
                <a16:creationId xmlns:a16="http://schemas.microsoft.com/office/drawing/2014/main" id="{23AB1D50-D58B-5F6B-D875-48AC5090DF2E}"/>
              </a:ext>
            </a:extLst>
          </p:cNvPr>
          <p:cNvCxnSpPr>
            <a:cxnSpLocks/>
          </p:cNvCxnSpPr>
          <p:nvPr/>
        </p:nvCxnSpPr>
        <p:spPr>
          <a:xfrm>
            <a:off x="8440135" y="2193072"/>
            <a:ext cx="1007649" cy="259857"/>
          </a:xfrm>
          <a:prstGeom prst="straightConnector1">
            <a:avLst/>
          </a:prstGeom>
          <a:ln w="825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itle_txt">
            <a:extLst>
              <a:ext uri="{FF2B5EF4-FFF2-40B4-BE49-F238E27FC236}">
                <a16:creationId xmlns:a16="http://schemas.microsoft.com/office/drawing/2014/main" id="{4634A140-EA3E-EF46-04EF-DDB744C71A98}"/>
              </a:ext>
            </a:extLst>
          </p:cNvPr>
          <p:cNvSpPr txBox="1"/>
          <p:nvPr/>
        </p:nvSpPr>
        <p:spPr>
          <a:xfrm>
            <a:off x="7529174" y="1191131"/>
            <a:ext cx="2201673" cy="70788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ja-JP" altLang="en-US" sz="20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ユーザー</a:t>
            </a:r>
            <a:endParaRPr lang="en-US" altLang="ja-JP" sz="2000" b="1" dirty="0">
              <a:solidFill>
                <a:srgbClr val="1A1A1A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  <a:p>
            <a:pPr algn="ctr"/>
            <a:r>
              <a:rPr lang="ja-JP" altLang="en-US" sz="20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フィードバック</a:t>
            </a:r>
            <a:endParaRPr lang="ja-JP" altLang="en-US" sz="2000" b="1" dirty="0">
              <a:solidFill>
                <a:srgbClr val="1A1A1A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56" name="title_txt">
            <a:extLst>
              <a:ext uri="{FF2B5EF4-FFF2-40B4-BE49-F238E27FC236}">
                <a16:creationId xmlns:a16="http://schemas.microsoft.com/office/drawing/2014/main" id="{9D0BEA85-1E99-758E-68C7-EF23A2F83368}"/>
              </a:ext>
            </a:extLst>
          </p:cNvPr>
          <p:cNvSpPr txBox="1"/>
          <p:nvPr/>
        </p:nvSpPr>
        <p:spPr>
          <a:xfrm>
            <a:off x="10409981" y="3843031"/>
            <a:ext cx="1800836" cy="70788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ja-JP" altLang="en-US" sz="20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タスク</a:t>
            </a:r>
            <a:r>
              <a:rPr lang="en-US" altLang="ja-JP" sz="2000" b="1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DB</a:t>
            </a:r>
            <a:r>
              <a:rPr lang="ja-JP" altLang="en-US" sz="20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に</a:t>
            </a:r>
            <a:endParaRPr lang="en-US" altLang="ja-JP" sz="2000" b="1" dirty="0">
              <a:solidFill>
                <a:srgbClr val="1A1A1A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  <a:p>
            <a:pPr algn="ctr"/>
            <a:r>
              <a:rPr lang="ja-JP" altLang="en-US" sz="20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格納</a:t>
            </a:r>
            <a:endParaRPr lang="en-US" altLang="ja-JP" sz="2000" b="1" dirty="0">
              <a:solidFill>
                <a:srgbClr val="1A1A1A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57" name="title_txt">
            <a:extLst>
              <a:ext uri="{FF2B5EF4-FFF2-40B4-BE49-F238E27FC236}">
                <a16:creationId xmlns:a16="http://schemas.microsoft.com/office/drawing/2014/main" id="{1EC7048A-02DB-50A7-D3D3-5E280A9C11D6}"/>
              </a:ext>
            </a:extLst>
          </p:cNvPr>
          <p:cNvSpPr txBox="1"/>
          <p:nvPr/>
        </p:nvSpPr>
        <p:spPr>
          <a:xfrm>
            <a:off x="6868391" y="5075726"/>
            <a:ext cx="2113759" cy="707886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ja-JP" altLang="en-US" sz="20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コネクト機能で</a:t>
            </a:r>
            <a:endParaRPr lang="en-US" altLang="ja-JP" sz="2000" b="1" dirty="0">
              <a:solidFill>
                <a:srgbClr val="1A1A1A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  <a:p>
            <a:pPr algn="ctr"/>
            <a:r>
              <a:rPr lang="en-US" altLang="ja-JP" sz="2000" b="1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FB</a:t>
            </a:r>
            <a:r>
              <a:rPr lang="ja-JP" altLang="en-US" sz="20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を取得</a:t>
            </a:r>
            <a:endParaRPr lang="en-US" altLang="ja-JP" sz="2000" b="1" dirty="0">
              <a:solidFill>
                <a:srgbClr val="1A1A1A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58" name="title_txt">
            <a:extLst>
              <a:ext uri="{FF2B5EF4-FFF2-40B4-BE49-F238E27FC236}">
                <a16:creationId xmlns:a16="http://schemas.microsoft.com/office/drawing/2014/main" id="{4945DA38-56CE-F79D-DA32-7E6876DD6376}"/>
              </a:ext>
            </a:extLst>
          </p:cNvPr>
          <p:cNvSpPr txBox="1"/>
          <p:nvPr/>
        </p:nvSpPr>
        <p:spPr>
          <a:xfrm>
            <a:off x="2337952" y="4320084"/>
            <a:ext cx="2113759" cy="46166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ctr"/>
            <a:r>
              <a:rPr lang="ja-JP" altLang="en-US" sz="24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コーディング</a:t>
            </a:r>
            <a:endParaRPr lang="en-US" altLang="ja-JP" sz="2400" b="1" dirty="0">
              <a:solidFill>
                <a:srgbClr val="1A1A1A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02782360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1" name="topbar"/>
          <p:cNvSpPr/>
          <p:nvPr/>
        </p:nvSpPr>
        <p:spPr>
          <a:xfrm>
            <a:off x="0" y="0"/>
            <a:ext cx="12192000" cy="1143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2" name="lstrip"/>
          <p:cNvSpPr/>
          <p:nvPr/>
        </p:nvSpPr>
        <p:spPr>
          <a:xfrm>
            <a:off x="0" y="1143000"/>
            <a:ext cx="18000" cy="5715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/>
          <a:lstStyle/>
          <a:p>
            <a:endParaRPr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3" name="section_lbl"/>
          <p:cNvSpPr txBox="1"/>
          <p:nvPr/>
        </p:nvSpPr>
        <p:spPr>
          <a:xfrm>
            <a:off x="10692000" y="80000"/>
            <a:ext cx="1400000" cy="30777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algn="r"/>
            <a:r>
              <a:rPr lang="ja-JP" altLang="en-US" sz="1400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Section 00</a:t>
            </a:r>
          </a:p>
        </p:txBody>
      </p:sp>
      <p:sp>
        <p:nvSpPr>
          <p:cNvPr id="14" name="title_txt"/>
          <p:cNvSpPr txBox="1"/>
          <p:nvPr/>
        </p:nvSpPr>
        <p:spPr>
          <a:xfrm>
            <a:off x="457200" y="141505"/>
            <a:ext cx="2084832" cy="830997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ja-JP" altLang="en-US" sz="48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まとめ</a:t>
            </a:r>
            <a:r>
              <a:rPr lang="ja-JP" altLang="en-US" sz="44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 　 　</a:t>
            </a:r>
            <a:endParaRPr lang="ja-JP" altLang="en-US" sz="4400" b="1" dirty="0">
              <a:solidFill>
                <a:srgbClr val="1A1A1A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20" name="key0"/>
          <p:cNvSpPr/>
          <p:nvPr/>
        </p:nvSpPr>
        <p:spPr>
          <a:xfrm>
            <a:off x="457200" y="1430000"/>
            <a:ext cx="2800000" cy="680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600" b="1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対象ユーザー</a:t>
            </a:r>
          </a:p>
        </p:txBody>
      </p:sp>
      <p:sp>
        <p:nvSpPr>
          <p:cNvPr id="21" name="val0"/>
          <p:cNvSpPr/>
          <p:nvPr/>
        </p:nvSpPr>
        <p:spPr>
          <a:xfrm>
            <a:off x="3317200" y="1430000"/>
            <a:ext cx="8417600" cy="680000"/>
          </a:xfrm>
          <a:prstGeom prst="rect">
            <a:avLst/>
          </a:prstGeom>
          <a:solidFill>
            <a:srgbClr val="FFFDE7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500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同人即売会に参加するすべての人</a:t>
            </a:r>
          </a:p>
        </p:txBody>
      </p:sp>
      <p:sp>
        <p:nvSpPr>
          <p:cNvPr id="22" name="key1"/>
          <p:cNvSpPr/>
          <p:nvPr/>
        </p:nvSpPr>
        <p:spPr>
          <a:xfrm>
            <a:off x="457200" y="2140000"/>
            <a:ext cx="2800000" cy="68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6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解決する課題</a:t>
            </a:r>
          </a:p>
        </p:txBody>
      </p:sp>
      <p:sp>
        <p:nvSpPr>
          <p:cNvPr id="23" name="val1"/>
          <p:cNvSpPr/>
          <p:nvPr/>
        </p:nvSpPr>
        <p:spPr>
          <a:xfrm>
            <a:off x="3317200" y="2140000"/>
            <a:ext cx="8417600" cy="6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500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紙・スプレッドシート・記憶力に頼った非効率な即売会フロー</a:t>
            </a:r>
          </a:p>
        </p:txBody>
      </p:sp>
      <p:sp>
        <p:nvSpPr>
          <p:cNvPr id="24" name="key2"/>
          <p:cNvSpPr/>
          <p:nvPr/>
        </p:nvSpPr>
        <p:spPr>
          <a:xfrm>
            <a:off x="457200" y="2850000"/>
            <a:ext cx="2800000" cy="680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600" b="1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競合</a:t>
            </a:r>
          </a:p>
        </p:txBody>
      </p:sp>
      <p:sp>
        <p:nvSpPr>
          <p:cNvPr id="25" name="val2"/>
          <p:cNvSpPr/>
          <p:nvPr/>
        </p:nvSpPr>
        <p:spPr>
          <a:xfrm>
            <a:off x="3317200" y="2850000"/>
            <a:ext cx="8417600" cy="680000"/>
          </a:xfrm>
          <a:prstGeom prst="rect">
            <a:avLst/>
          </a:prstGeom>
          <a:solidFill>
            <a:srgbClr val="FFFDE7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500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直接競合ゼロ（先行者優位）</a:t>
            </a:r>
          </a:p>
        </p:txBody>
      </p:sp>
      <p:sp>
        <p:nvSpPr>
          <p:cNvPr id="26" name="key3"/>
          <p:cNvSpPr/>
          <p:nvPr/>
        </p:nvSpPr>
        <p:spPr>
          <a:xfrm>
            <a:off x="457200" y="3560000"/>
            <a:ext cx="2800000" cy="68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6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技術的強み</a:t>
            </a:r>
          </a:p>
        </p:txBody>
      </p:sp>
      <p:sp>
        <p:nvSpPr>
          <p:cNvPr id="27" name="val3"/>
          <p:cNvSpPr/>
          <p:nvPr/>
        </p:nvSpPr>
        <p:spPr>
          <a:xfrm>
            <a:off x="3317200" y="3560000"/>
            <a:ext cx="8417600" cy="6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500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React 19 + Prisma + R2 + Cloudflare の実運用を前提としたスタック</a:t>
            </a:r>
          </a:p>
        </p:txBody>
      </p:sp>
      <p:sp>
        <p:nvSpPr>
          <p:cNvPr id="28" name="key4"/>
          <p:cNvSpPr/>
          <p:nvPr/>
        </p:nvSpPr>
        <p:spPr>
          <a:xfrm>
            <a:off x="457200" y="4270000"/>
            <a:ext cx="2800000" cy="680000"/>
          </a:xfrm>
          <a:prstGeom prst="rect">
            <a:avLst/>
          </a:prstGeom>
          <a:solidFill>
            <a:srgbClr val="F3CA00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600" b="1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設計の特徴</a:t>
            </a:r>
          </a:p>
        </p:txBody>
      </p:sp>
      <p:sp>
        <p:nvSpPr>
          <p:cNvPr id="29" name="val4"/>
          <p:cNvSpPr/>
          <p:nvPr/>
        </p:nvSpPr>
        <p:spPr>
          <a:xfrm>
            <a:off x="3317200" y="4270000"/>
            <a:ext cx="8417600" cy="680000"/>
          </a:xfrm>
          <a:prstGeom prst="rect">
            <a:avLst/>
          </a:prstGeom>
          <a:solidFill>
            <a:srgbClr val="FFFDE7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500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既存の運用フローをデジタルに置き換える低移行コスト設計</a:t>
            </a:r>
          </a:p>
        </p:txBody>
      </p:sp>
      <p:sp>
        <p:nvSpPr>
          <p:cNvPr id="30" name="key5"/>
          <p:cNvSpPr/>
          <p:nvPr/>
        </p:nvSpPr>
        <p:spPr>
          <a:xfrm>
            <a:off x="457200" y="4980000"/>
            <a:ext cx="2800000" cy="68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600" b="1" dirty="0">
                <a:solidFill>
                  <a:srgbClr val="FFFFFF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拡張性</a:t>
            </a:r>
          </a:p>
        </p:txBody>
      </p:sp>
      <p:sp>
        <p:nvSpPr>
          <p:cNvPr id="31" name="val5"/>
          <p:cNvSpPr/>
          <p:nvPr/>
        </p:nvSpPr>
        <p:spPr>
          <a:xfrm>
            <a:off x="3317200" y="4980000"/>
            <a:ext cx="8417600" cy="680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1500" dirty="0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ドメイン駆動設計により機能追加・スケーリングが容易</a:t>
            </a:r>
          </a:p>
        </p:txBody>
      </p:sp>
      <p:sp>
        <p:nvSpPr>
          <p:cNvPr id="50" name="tagline"/>
          <p:cNvSpPr/>
          <p:nvPr/>
        </p:nvSpPr>
        <p:spPr>
          <a:xfrm>
            <a:off x="457200" y="6150000"/>
            <a:ext cx="11277600" cy="700000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txBody>
          <a:bodyPr rtlCol="0" anchor="ctr">
            <a:normAutofit/>
          </a:bodyPr>
          <a:lstStyle/>
          <a:p>
            <a:pPr algn="ctr"/>
            <a:r>
              <a:rPr lang="ja-JP" altLang="en-US" sz="2800" b="1">
                <a:solidFill>
                  <a:srgbClr val="F3CA00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 </a:t>
            </a:r>
            <a:r>
              <a:rPr lang="ja-JP" altLang="en-US" sz="2800" b="1" dirty="0">
                <a:solidFill>
                  <a:srgbClr val="F3CA00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同人活動のすべてをポケットの中に。</a:t>
            </a:r>
          </a:p>
        </p:txBody>
      </p:sp>
      <p:sp>
        <p:nvSpPr>
          <p:cNvPr id="2" name="title_txt">
            <a:extLst>
              <a:ext uri="{FF2B5EF4-FFF2-40B4-BE49-F238E27FC236}">
                <a16:creationId xmlns:a16="http://schemas.microsoft.com/office/drawing/2014/main" id="{A9D6B99B-80FD-C306-5D20-CAC4E44F6CF7}"/>
              </a:ext>
            </a:extLst>
          </p:cNvPr>
          <p:cNvSpPr txBox="1"/>
          <p:nvPr/>
        </p:nvSpPr>
        <p:spPr>
          <a:xfrm>
            <a:off x="3317200" y="280838"/>
            <a:ext cx="5267520" cy="5847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r>
              <a:rPr lang="ja-JP" altLang="en-US" sz="3200">
                <a:solidFill>
                  <a:srgbClr val="1A1A1A"/>
                </a:solidFill>
                <a:latin typeface="Reggae One" pitchFamily="2" charset="-128"/>
                <a:ea typeface="Reggae One" pitchFamily="2" charset="-128"/>
              </a:rPr>
              <a:t>同人++ </a:t>
            </a:r>
            <a:r>
              <a:rPr lang="ja-JP" altLang="en-US" sz="3200" b="1">
                <a:solidFill>
                  <a:srgbClr val="1A1A1A"/>
                </a:solidFill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でできること</a:t>
            </a:r>
            <a:endParaRPr lang="ja-JP" altLang="en-US" sz="2800" b="1" dirty="0">
              <a:solidFill>
                <a:srgbClr val="1A1A1A"/>
              </a:solidFill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フリーフォーム 18">
            <a:extLst>
              <a:ext uri="{FF2B5EF4-FFF2-40B4-BE49-F238E27FC236}">
                <a16:creationId xmlns:a16="http://schemas.microsoft.com/office/drawing/2014/main" id="{E0547A70-D24C-E979-D4E1-BDE121245913}"/>
              </a:ext>
            </a:extLst>
          </p:cNvPr>
          <p:cNvSpPr/>
          <p:nvPr/>
        </p:nvSpPr>
        <p:spPr>
          <a:xfrm>
            <a:off x="-35131" y="-1"/>
            <a:ext cx="10759301" cy="6874933"/>
          </a:xfrm>
          <a:custGeom>
            <a:avLst/>
            <a:gdLst>
              <a:gd name="connsiteX0" fmla="*/ 0 w 9633500"/>
              <a:gd name="connsiteY0" fmla="*/ 0 h 6858000"/>
              <a:gd name="connsiteX1" fmla="*/ 9633500 w 9633500"/>
              <a:gd name="connsiteY1" fmla="*/ 0 h 6858000"/>
              <a:gd name="connsiteX2" fmla="*/ 6689929 w 9633500"/>
              <a:gd name="connsiteY2" fmla="*/ 6858000 h 6858000"/>
              <a:gd name="connsiteX3" fmla="*/ 0 w 9633500"/>
              <a:gd name="connsiteY3" fmla="*/ 6858000 h 6858000"/>
              <a:gd name="connsiteX4" fmla="*/ 0 w 9633500"/>
              <a:gd name="connsiteY4" fmla="*/ 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33500" h="6858000">
                <a:moveTo>
                  <a:pt x="0" y="0"/>
                </a:moveTo>
                <a:lnTo>
                  <a:pt x="9633500" y="0"/>
                </a:lnTo>
                <a:lnTo>
                  <a:pt x="6689929" y="6858000"/>
                </a:lnTo>
                <a:lnTo>
                  <a:pt x="0" y="6858000"/>
                </a:lnTo>
                <a:lnTo>
                  <a:pt x="0" y="0"/>
                </a:lnTo>
                <a:close/>
              </a:path>
            </a:pathLst>
          </a:custGeom>
          <a:solidFill>
            <a:srgbClr val="F3CA00">
              <a:alpha val="89804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フリーフォーム 16">
            <a:extLst>
              <a:ext uri="{FF2B5EF4-FFF2-40B4-BE49-F238E27FC236}">
                <a16:creationId xmlns:a16="http://schemas.microsoft.com/office/drawing/2014/main" id="{E551B289-52C4-9FF0-450F-84210F573637}"/>
              </a:ext>
            </a:extLst>
          </p:cNvPr>
          <p:cNvSpPr/>
          <p:nvPr/>
        </p:nvSpPr>
        <p:spPr>
          <a:xfrm>
            <a:off x="10854267" y="3217332"/>
            <a:ext cx="1337732" cy="3640667"/>
          </a:xfrm>
          <a:custGeom>
            <a:avLst/>
            <a:gdLst>
              <a:gd name="connsiteX0" fmla="*/ 1975854 w 1975854"/>
              <a:gd name="connsiteY0" fmla="*/ 0 h 4603390"/>
              <a:gd name="connsiteX1" fmla="*/ 1975854 w 1975854"/>
              <a:gd name="connsiteY1" fmla="*/ 4603390 h 4603390"/>
              <a:gd name="connsiteX2" fmla="*/ 0 w 1975854"/>
              <a:gd name="connsiteY2" fmla="*/ 4603390 h 4603390"/>
              <a:gd name="connsiteX3" fmla="*/ 1975854 w 1975854"/>
              <a:gd name="connsiteY3" fmla="*/ 0 h 460339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975854" h="4603390">
                <a:moveTo>
                  <a:pt x="1975854" y="0"/>
                </a:moveTo>
                <a:lnTo>
                  <a:pt x="1975854" y="4603390"/>
                </a:lnTo>
                <a:lnTo>
                  <a:pt x="0" y="4603390"/>
                </a:lnTo>
                <a:lnTo>
                  <a:pt x="1975854" y="0"/>
                </a:lnTo>
                <a:close/>
              </a:path>
            </a:pathLst>
          </a:custGeom>
          <a:solidFill>
            <a:srgbClr val="F3C715">
              <a:alpha val="9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BBFE08A4-A2D1-4FEE-27C3-2FAD1F0D5C74}"/>
              </a:ext>
            </a:extLst>
          </p:cNvPr>
          <p:cNvGrpSpPr/>
          <p:nvPr/>
        </p:nvGrpSpPr>
        <p:grpSpPr>
          <a:xfrm>
            <a:off x="511935" y="1892399"/>
            <a:ext cx="7777705" cy="1862048"/>
            <a:chOff x="4414295" y="2497975"/>
            <a:chExt cx="7777705" cy="1862048"/>
          </a:xfrm>
        </p:grpSpPr>
        <p:pic>
          <p:nvPicPr>
            <p:cNvPr id="2" name="図 1" descr="ロゴ  自動的に生成された説明">
              <a:extLst>
                <a:ext uri="{FF2B5EF4-FFF2-40B4-BE49-F238E27FC236}">
                  <a16:creationId xmlns:a16="http://schemas.microsoft.com/office/drawing/2014/main" id="{AE248058-FE32-D8FD-9BFB-71BBC56D004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2323" t="12390" r="12451" b="10715"/>
            <a:stretch/>
          </p:blipFill>
          <p:spPr>
            <a:xfrm>
              <a:off x="4414295" y="2549224"/>
              <a:ext cx="1721370" cy="1759550"/>
            </a:xfrm>
            <a:prstGeom prst="rect">
              <a:avLst/>
            </a:prstGeom>
            <a:effectLst>
              <a:glow rad="12700">
                <a:schemeClr val="bg1">
                  <a:alpha val="95000"/>
                </a:schemeClr>
              </a:glow>
            </a:effectLst>
          </p:spPr>
        </p:pic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BABBAA52-17C4-9CEE-9EDC-825A280A00EF}"/>
                </a:ext>
              </a:extLst>
            </p:cNvPr>
            <p:cNvSpPr txBox="1"/>
            <p:nvPr/>
          </p:nvSpPr>
          <p:spPr>
            <a:xfrm>
              <a:off x="6135665" y="2497975"/>
              <a:ext cx="6056335" cy="1862048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1500">
                  <a:latin typeface="Reggae One" pitchFamily="2" charset="-128"/>
                  <a:ea typeface="Reggae One" pitchFamily="2" charset="-128"/>
                </a:rPr>
                <a:t>同人＋＋</a:t>
              </a:r>
            </a:p>
          </p:txBody>
        </p:sp>
      </p:grpSp>
      <p:grpSp>
        <p:nvGrpSpPr>
          <p:cNvPr id="11" name="グループ化 10">
            <a:extLst>
              <a:ext uri="{FF2B5EF4-FFF2-40B4-BE49-F238E27FC236}">
                <a16:creationId xmlns:a16="http://schemas.microsoft.com/office/drawing/2014/main" id="{EA2C13A2-F35A-2BBA-CBAB-0C2D9B6AEBC8}"/>
              </a:ext>
            </a:extLst>
          </p:cNvPr>
          <p:cNvGrpSpPr/>
          <p:nvPr/>
        </p:nvGrpSpPr>
        <p:grpSpPr>
          <a:xfrm>
            <a:off x="8721929" y="443212"/>
            <a:ext cx="2966145" cy="5971576"/>
            <a:chOff x="757204" y="410554"/>
            <a:chExt cx="2966145" cy="5971576"/>
          </a:xfrm>
          <a:effectLst>
            <a:outerShdw dist="91524" dir="5400000" algn="t" rotWithShape="0">
              <a:prstClr val="black">
                <a:alpha val="62038"/>
              </a:prstClr>
            </a:outerShdw>
          </a:effectLst>
        </p:grpSpPr>
        <p:sp>
          <p:nvSpPr>
            <p:cNvPr id="6" name="テキスト ボックス 5">
              <a:extLst>
                <a:ext uri="{FF2B5EF4-FFF2-40B4-BE49-F238E27FC236}">
                  <a16:creationId xmlns:a16="http://schemas.microsoft.com/office/drawing/2014/main" id="{6EDAD098-2003-C2EA-305E-5255C33033B8}"/>
                </a:ext>
              </a:extLst>
            </p:cNvPr>
            <p:cNvSpPr txBox="1"/>
            <p:nvPr/>
          </p:nvSpPr>
          <p:spPr>
            <a:xfrm>
              <a:off x="2698230" y="629587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kumimoji="1" lang="ja-JP" altLang="en-US"/>
            </a:p>
          </p:txBody>
        </p:sp>
        <p:pic>
          <p:nvPicPr>
            <p:cNvPr id="10" name="図 9" descr="携帯電話の画面のスクリーンショット  自動的に生成された説明">
              <a:extLst>
                <a:ext uri="{FF2B5EF4-FFF2-40B4-BE49-F238E27FC236}">
                  <a16:creationId xmlns:a16="http://schemas.microsoft.com/office/drawing/2014/main" id="{E4265038-EE14-C4F2-6917-EB6E7B2C3F7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b="808"/>
            <a:stretch>
              <a:fillRect/>
            </a:stretch>
          </p:blipFill>
          <p:spPr>
            <a:xfrm>
              <a:off x="915892" y="557819"/>
              <a:ext cx="2660427" cy="5710901"/>
            </a:xfrm>
            <a:custGeom>
              <a:avLst/>
              <a:gdLst>
                <a:gd name="connsiteX0" fmla="*/ 430997 w 2626994"/>
                <a:gd name="connsiteY0" fmla="*/ 0 h 5639133"/>
                <a:gd name="connsiteX1" fmla="*/ 2187784 w 2626994"/>
                <a:gd name="connsiteY1" fmla="*/ 0 h 5639133"/>
                <a:gd name="connsiteX2" fmla="*/ 2626994 w 2626994"/>
                <a:gd name="connsiteY2" fmla="*/ 439210 h 5639133"/>
                <a:gd name="connsiteX3" fmla="*/ 2626994 w 2626994"/>
                <a:gd name="connsiteY3" fmla="*/ 5199923 h 5639133"/>
                <a:gd name="connsiteX4" fmla="*/ 2187784 w 2626994"/>
                <a:gd name="connsiteY4" fmla="*/ 5639133 h 5639133"/>
                <a:gd name="connsiteX5" fmla="*/ 430997 w 2626994"/>
                <a:gd name="connsiteY5" fmla="*/ 5639133 h 5639133"/>
                <a:gd name="connsiteX6" fmla="*/ 710 w 2626994"/>
                <a:gd name="connsiteY6" fmla="*/ 5288439 h 5639133"/>
                <a:gd name="connsiteX7" fmla="*/ 0 w 2626994"/>
                <a:gd name="connsiteY7" fmla="*/ 5281394 h 5639133"/>
                <a:gd name="connsiteX8" fmla="*/ 0 w 2626994"/>
                <a:gd name="connsiteY8" fmla="*/ 357739 h 5639133"/>
                <a:gd name="connsiteX9" fmla="*/ 710 w 2626994"/>
                <a:gd name="connsiteY9" fmla="*/ 350694 h 5639133"/>
                <a:gd name="connsiteX10" fmla="*/ 430997 w 2626994"/>
                <a:gd name="connsiteY10" fmla="*/ 0 h 5639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626994" h="5639133">
                  <a:moveTo>
                    <a:pt x="430997" y="0"/>
                  </a:moveTo>
                  <a:lnTo>
                    <a:pt x="2187784" y="0"/>
                  </a:lnTo>
                  <a:cubicBezTo>
                    <a:pt x="2430353" y="0"/>
                    <a:pt x="2626994" y="196641"/>
                    <a:pt x="2626994" y="439210"/>
                  </a:cubicBezTo>
                  <a:lnTo>
                    <a:pt x="2626994" y="5199923"/>
                  </a:lnTo>
                  <a:cubicBezTo>
                    <a:pt x="2626994" y="5442492"/>
                    <a:pt x="2430353" y="5639133"/>
                    <a:pt x="2187784" y="5639133"/>
                  </a:cubicBezTo>
                  <a:lnTo>
                    <a:pt x="430997" y="5639133"/>
                  </a:lnTo>
                  <a:cubicBezTo>
                    <a:pt x="218749" y="5639133"/>
                    <a:pt x="41665" y="5488580"/>
                    <a:pt x="710" y="5288439"/>
                  </a:cubicBezTo>
                  <a:lnTo>
                    <a:pt x="0" y="5281394"/>
                  </a:lnTo>
                  <a:lnTo>
                    <a:pt x="0" y="357739"/>
                  </a:lnTo>
                  <a:lnTo>
                    <a:pt x="710" y="350694"/>
                  </a:lnTo>
                  <a:cubicBezTo>
                    <a:pt x="41665" y="150553"/>
                    <a:pt x="218749" y="0"/>
                    <a:pt x="430997" y="0"/>
                  </a:cubicBezTo>
                  <a:close/>
                </a:path>
              </a:pathLst>
            </a:custGeom>
          </p:spPr>
        </p:pic>
        <p:pic>
          <p:nvPicPr>
            <p:cNvPr id="3" name="図 2" descr="グラフィカル ユーザー インターフェイス, アプリケーション  自動的に生成された説明">
              <a:extLst>
                <a:ext uri="{FF2B5EF4-FFF2-40B4-BE49-F238E27FC236}">
                  <a16:creationId xmlns:a16="http://schemas.microsoft.com/office/drawing/2014/main" id="{9EFFA348-4F53-9543-A865-38D6103137A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757204" y="410554"/>
              <a:ext cx="2966145" cy="5971576"/>
            </a:xfrm>
            <a:prstGeom prst="rect">
              <a:avLst/>
            </a:prstGeom>
          </p:spPr>
        </p:pic>
      </p:grp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028442A8-16E6-B476-9403-29DAF4AA7BD6}"/>
              </a:ext>
            </a:extLst>
          </p:cNvPr>
          <p:cNvSpPr txBox="1"/>
          <p:nvPr/>
        </p:nvSpPr>
        <p:spPr>
          <a:xfrm>
            <a:off x="606352" y="988598"/>
            <a:ext cx="78598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dist"/>
            <a:r>
              <a:rPr kumimoji="1" lang="ja-JP" altLang="en-US" sz="2800" b="1" spc="300"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あなたの同人活動にスマートさをプラス！</a:t>
            </a:r>
          </a:p>
        </p:txBody>
      </p:sp>
      <p:pic>
        <p:nvPicPr>
          <p:cNvPr id="13" name="図 12" descr="図形&#10;&#10;低い精度で自動的に生成された説明">
            <a:extLst>
              <a:ext uri="{FF2B5EF4-FFF2-40B4-BE49-F238E27FC236}">
                <a16:creationId xmlns:a16="http://schemas.microsoft.com/office/drawing/2014/main" id="{61DAF40E-9FC0-143B-660B-B0D01E82617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91356" y="4600399"/>
            <a:ext cx="2079764" cy="2079764"/>
          </a:xfrm>
          <a:prstGeom prst="rect">
            <a:avLst/>
          </a:prstGeom>
        </p:spPr>
      </p:pic>
      <p:pic>
        <p:nvPicPr>
          <p:cNvPr id="15" name="図 14" descr="図形&#10;&#10;低い精度で自動的に生成された説明">
            <a:extLst>
              <a:ext uri="{FF2B5EF4-FFF2-40B4-BE49-F238E27FC236}">
                <a16:creationId xmlns:a16="http://schemas.microsoft.com/office/drawing/2014/main" id="{E3BDBA05-6AA9-AE59-9341-7792D5C6451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1179" y="4586922"/>
            <a:ext cx="2079764" cy="2079764"/>
          </a:xfrm>
          <a:prstGeom prst="rect">
            <a:avLst/>
          </a:prstGeom>
        </p:spPr>
      </p:pic>
      <p:sp>
        <p:nvSpPr>
          <p:cNvPr id="16" name="テキスト ボックス 15">
            <a:extLst>
              <a:ext uri="{FF2B5EF4-FFF2-40B4-BE49-F238E27FC236}">
                <a16:creationId xmlns:a16="http://schemas.microsoft.com/office/drawing/2014/main" id="{5D9327F5-EE71-924B-2657-35933147D691}"/>
              </a:ext>
            </a:extLst>
          </p:cNvPr>
          <p:cNvSpPr txBox="1"/>
          <p:nvPr/>
        </p:nvSpPr>
        <p:spPr>
          <a:xfrm>
            <a:off x="2594415" y="4686174"/>
            <a:ext cx="299953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dist"/>
            <a:r>
              <a:rPr kumimoji="1" lang="ja-JP" altLang="en-US" sz="2800" b="1" spc="300"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←アプリは</a:t>
            </a:r>
            <a:endParaRPr kumimoji="1" lang="en-US" altLang="ja-JP" sz="2800" b="1" spc="300" dirty="0"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  <a:p>
            <a:pPr algn="dist"/>
            <a:r>
              <a:rPr lang="ja-JP" altLang="en-US" sz="2800" b="1" spc="300"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　　こちらから</a:t>
            </a:r>
            <a:endParaRPr kumimoji="1" lang="ja-JP" altLang="en-US" sz="2800" b="1" spc="300"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70A0ED16-42DE-2610-DBFA-685AF321123F}"/>
              </a:ext>
            </a:extLst>
          </p:cNvPr>
          <p:cNvSpPr txBox="1"/>
          <p:nvPr/>
        </p:nvSpPr>
        <p:spPr>
          <a:xfrm>
            <a:off x="2588003" y="5739533"/>
            <a:ext cx="3005951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dist"/>
            <a:r>
              <a:rPr lang="ja-JP" altLang="en-US" sz="2800" b="1" spc="300"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開発者の</a:t>
            </a:r>
            <a:r>
              <a:rPr lang="en-US" altLang="ja-JP" sz="2800" b="1" spc="300" dirty="0"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X</a:t>
            </a:r>
            <a:r>
              <a:rPr lang="ja-JP" altLang="en-US" sz="2800" b="1" spc="300"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は</a:t>
            </a:r>
            <a:endParaRPr lang="en-US" altLang="ja-JP" sz="2800" b="1" spc="300" dirty="0"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  <a:p>
            <a:pPr algn="dist"/>
            <a:r>
              <a:rPr lang="ja-JP" altLang="en-US" sz="2800" b="1" spc="300">
                <a:latin typeface="Tsukushi A Round Gothic Regular" panose="02020400000000000000" pitchFamily="18" charset="-128"/>
                <a:ea typeface="Tsukushi A Round Gothic Regular" panose="02020400000000000000" pitchFamily="18" charset="-128"/>
              </a:rPr>
              <a:t>　こちらから→</a:t>
            </a:r>
            <a:endParaRPr kumimoji="1" lang="en-US" altLang="ja-JP" sz="2800" b="1" spc="300" dirty="0">
              <a:latin typeface="Tsukushi A Round Gothic Regular" panose="02020400000000000000" pitchFamily="18" charset="-128"/>
              <a:ea typeface="Tsukushi A Round Gothic Regular" panose="020204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427940316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4268F9F-F6E7-74B8-D3D1-A10F5963CFEE}"/>
              </a:ext>
            </a:extLst>
          </p:cNvPr>
          <p:cNvSpPr txBox="1"/>
          <p:nvPr/>
        </p:nvSpPr>
        <p:spPr>
          <a:xfrm>
            <a:off x="579862" y="412594"/>
            <a:ext cx="747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/>
              <a:t>素材</a:t>
            </a:r>
          </a:p>
        </p:txBody>
      </p:sp>
      <p:pic>
        <p:nvPicPr>
          <p:cNvPr id="6" name="図 5" descr="ロゴ  自動的に生成された説明">
            <a:extLst>
              <a:ext uri="{FF2B5EF4-FFF2-40B4-BE49-F238E27FC236}">
                <a16:creationId xmlns:a16="http://schemas.microsoft.com/office/drawing/2014/main" id="{E638328B-B10D-5CA1-21B2-D73698584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451" y="31305"/>
            <a:ext cx="3162300" cy="3162300"/>
          </a:xfrm>
          <a:prstGeom prst="rect">
            <a:avLst/>
          </a:prstGeom>
        </p:spPr>
      </p:pic>
      <p:pic>
        <p:nvPicPr>
          <p:cNvPr id="8" name="図 7" descr="携帯電話の画面のスクリーンショット  自動的に生成された説明">
            <a:extLst>
              <a:ext uri="{FF2B5EF4-FFF2-40B4-BE49-F238E27FC236}">
                <a16:creationId xmlns:a16="http://schemas.microsoft.com/office/drawing/2014/main" id="{70BF9B80-5053-F626-4FB0-5E856FD2F4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5300" y="2721434"/>
            <a:ext cx="3276660" cy="2134668"/>
          </a:xfrm>
          <a:prstGeom prst="rect">
            <a:avLst/>
          </a:prstGeom>
        </p:spPr>
      </p:pic>
      <p:pic>
        <p:nvPicPr>
          <p:cNvPr id="10" name="図 9" descr="グラフィカル ユーザー インターフェイス, アプリケーション  自動的に生成された説明">
            <a:extLst>
              <a:ext uri="{FF2B5EF4-FFF2-40B4-BE49-F238E27FC236}">
                <a16:creationId xmlns:a16="http://schemas.microsoft.com/office/drawing/2014/main" id="{008B5296-FDD1-2F40-268E-EA501FC2CA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6583" y="2476500"/>
            <a:ext cx="1879600" cy="1905000"/>
          </a:xfrm>
          <a:prstGeom prst="rect">
            <a:avLst/>
          </a:prstGeom>
        </p:spPr>
      </p:pic>
      <p:pic>
        <p:nvPicPr>
          <p:cNvPr id="12" name="図 11" descr="携帯電話の画面のスクリーンショット  自動的に生成された説明">
            <a:extLst>
              <a:ext uri="{FF2B5EF4-FFF2-40B4-BE49-F238E27FC236}">
                <a16:creationId xmlns:a16="http://schemas.microsoft.com/office/drawing/2014/main" id="{C92BBBF4-9EBE-5761-A4E0-AC9F6EA42F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221" y="2903435"/>
            <a:ext cx="3162300" cy="1770666"/>
          </a:xfrm>
          <a:prstGeom prst="rect">
            <a:avLst/>
          </a:prstGeom>
        </p:spPr>
      </p:pic>
      <p:pic>
        <p:nvPicPr>
          <p:cNvPr id="14" name="図 13" descr="グラフィカル ユーザー インターフェイス, アプリケーション, テーブル, Excel  自動的に生成された説明">
            <a:extLst>
              <a:ext uri="{FF2B5EF4-FFF2-40B4-BE49-F238E27FC236}">
                <a16:creationId xmlns:a16="http://schemas.microsoft.com/office/drawing/2014/main" id="{43F77968-A9CF-FF63-08AA-1194B87F813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76661" y="3816312"/>
            <a:ext cx="3046647" cy="719347"/>
          </a:xfrm>
          <a:prstGeom prst="rect">
            <a:avLst/>
          </a:prstGeom>
        </p:spPr>
      </p:pic>
      <p:pic>
        <p:nvPicPr>
          <p:cNvPr id="16" name="図 15" descr="モニター画面に映るゲームの画面  低い精度で自動的に生成された説明">
            <a:extLst>
              <a:ext uri="{FF2B5EF4-FFF2-40B4-BE49-F238E27FC236}">
                <a16:creationId xmlns:a16="http://schemas.microsoft.com/office/drawing/2014/main" id="{6C91F342-D7A9-49CE-B5EB-91C7BF1C711F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727131" y="5038551"/>
            <a:ext cx="3395486" cy="1905000"/>
          </a:xfrm>
          <a:prstGeom prst="rect">
            <a:avLst/>
          </a:prstGeom>
        </p:spPr>
      </p:pic>
      <p:pic>
        <p:nvPicPr>
          <p:cNvPr id="18" name="図 17" descr="テーブル が含まれている画像  自動的に生成された説明">
            <a:extLst>
              <a:ext uri="{FF2B5EF4-FFF2-40B4-BE49-F238E27FC236}">
                <a16:creationId xmlns:a16="http://schemas.microsoft.com/office/drawing/2014/main" id="{BD184C2D-280C-B3FB-1CE5-CA6F52215B74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04595" y="5098671"/>
            <a:ext cx="3268455" cy="1724461"/>
          </a:xfrm>
          <a:prstGeom prst="rect">
            <a:avLst/>
          </a:prstGeom>
        </p:spPr>
      </p:pic>
      <p:pic>
        <p:nvPicPr>
          <p:cNvPr id="20" name="図 19" descr="グラフィカル ユーザー インターフェイス, アプリケーション  自動的に生成された説明">
            <a:extLst>
              <a:ext uri="{FF2B5EF4-FFF2-40B4-BE49-F238E27FC236}">
                <a16:creationId xmlns:a16="http://schemas.microsoft.com/office/drawing/2014/main" id="{A3773D2D-F998-CC3C-577E-29F60785E667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08734" y="4589952"/>
            <a:ext cx="2037449" cy="2293246"/>
          </a:xfrm>
          <a:prstGeom prst="rect">
            <a:avLst/>
          </a:prstGeom>
        </p:spPr>
      </p:pic>
      <p:pic>
        <p:nvPicPr>
          <p:cNvPr id="22" name="図 21" descr="モニター画面に映るゲームの画面  低い精度で自動的に生成された説明">
            <a:extLst>
              <a:ext uri="{FF2B5EF4-FFF2-40B4-BE49-F238E27FC236}">
                <a16:creationId xmlns:a16="http://schemas.microsoft.com/office/drawing/2014/main" id="{3BDC1FE3-F06B-0C00-E7B5-89E289BC8418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3221" y="4777246"/>
            <a:ext cx="3180426" cy="2080753"/>
          </a:xfrm>
          <a:prstGeom prst="rect">
            <a:avLst/>
          </a:prstGeom>
        </p:spPr>
      </p:pic>
      <p:pic>
        <p:nvPicPr>
          <p:cNvPr id="24" name="図 23" descr="ダイアグラム, 概略図  自動的に生成された説明">
            <a:extLst>
              <a:ext uri="{FF2B5EF4-FFF2-40B4-BE49-F238E27FC236}">
                <a16:creationId xmlns:a16="http://schemas.microsoft.com/office/drawing/2014/main" id="{5659D16C-B73D-C33D-1892-A0CFD922C69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68168" y="56154"/>
            <a:ext cx="2515317" cy="2255786"/>
          </a:xfrm>
          <a:prstGeom prst="rect">
            <a:avLst/>
          </a:prstGeom>
        </p:spPr>
      </p:pic>
      <p:pic>
        <p:nvPicPr>
          <p:cNvPr id="26" name="図 25" descr="図形, 四角形  自動的に生成された説明">
            <a:extLst>
              <a:ext uri="{FF2B5EF4-FFF2-40B4-BE49-F238E27FC236}">
                <a16:creationId xmlns:a16="http://schemas.microsoft.com/office/drawing/2014/main" id="{65C69197-9F77-2BC6-16B7-1842010DA0C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367791" y="1146863"/>
            <a:ext cx="3256679" cy="2496787"/>
          </a:xfrm>
          <a:prstGeom prst="rect">
            <a:avLst/>
          </a:prstGeom>
        </p:spPr>
      </p:pic>
      <p:pic>
        <p:nvPicPr>
          <p:cNvPr id="28" name="図 27" descr="グラフィカル ユーザー インターフェイス, アプリケーション  自動的に生成された説明">
            <a:extLst>
              <a:ext uri="{FF2B5EF4-FFF2-40B4-BE49-F238E27FC236}">
                <a16:creationId xmlns:a16="http://schemas.microsoft.com/office/drawing/2014/main" id="{12938A30-D302-5A07-38A0-1B1D8B46EDC8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762303" y="92982"/>
            <a:ext cx="1305580" cy="2628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237283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4268F9F-F6E7-74B8-D3D1-A10F5963CFEE}"/>
              </a:ext>
            </a:extLst>
          </p:cNvPr>
          <p:cNvSpPr txBox="1"/>
          <p:nvPr/>
        </p:nvSpPr>
        <p:spPr>
          <a:xfrm>
            <a:off x="579862" y="412594"/>
            <a:ext cx="7471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/>
              <a:t>素材</a:t>
            </a:r>
          </a:p>
        </p:txBody>
      </p:sp>
      <p:pic>
        <p:nvPicPr>
          <p:cNvPr id="6" name="図 5" descr="ロゴ  自動的に生成された説明">
            <a:extLst>
              <a:ext uri="{FF2B5EF4-FFF2-40B4-BE49-F238E27FC236}">
                <a16:creationId xmlns:a16="http://schemas.microsoft.com/office/drawing/2014/main" id="{E638328B-B10D-5CA1-21B2-D73698584D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451" y="31305"/>
            <a:ext cx="3162300" cy="3162300"/>
          </a:xfrm>
          <a:prstGeom prst="rect">
            <a:avLst/>
          </a:prstGeom>
        </p:spPr>
      </p:pic>
      <p:pic>
        <p:nvPicPr>
          <p:cNvPr id="26" name="図 25" descr="図形, 四角形  自動的に生成された説明">
            <a:extLst>
              <a:ext uri="{FF2B5EF4-FFF2-40B4-BE49-F238E27FC236}">
                <a16:creationId xmlns:a16="http://schemas.microsoft.com/office/drawing/2014/main" id="{65C69197-9F77-2BC6-16B7-1842010DA0C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914747" y="2929180"/>
            <a:ext cx="3256679" cy="2496787"/>
          </a:xfrm>
          <a:prstGeom prst="rect">
            <a:avLst/>
          </a:prstGeom>
        </p:spPr>
      </p:pic>
      <p:pic>
        <p:nvPicPr>
          <p:cNvPr id="28" name="図 27" descr="グラフィカル ユーザー インターフェイス, アプリケーション  自動的に生成された説明">
            <a:extLst>
              <a:ext uri="{FF2B5EF4-FFF2-40B4-BE49-F238E27FC236}">
                <a16:creationId xmlns:a16="http://schemas.microsoft.com/office/drawing/2014/main" id="{12938A30-D302-5A07-38A0-1B1D8B46ED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2303" y="92982"/>
            <a:ext cx="1305580" cy="2628452"/>
          </a:xfrm>
          <a:prstGeom prst="rect">
            <a:avLst/>
          </a:prstGeom>
        </p:spPr>
      </p:pic>
      <p:pic>
        <p:nvPicPr>
          <p:cNvPr id="30" name="図 29" descr="携帯電話の画面のスクリーンショット  自動的に生成された説明">
            <a:extLst>
              <a:ext uri="{FF2B5EF4-FFF2-40B4-BE49-F238E27FC236}">
                <a16:creationId xmlns:a16="http://schemas.microsoft.com/office/drawing/2014/main" id="{97DBF80B-F680-F29D-BFD8-551341172CF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61973" y="2890474"/>
            <a:ext cx="1833335" cy="3967525"/>
          </a:xfrm>
          <a:prstGeom prst="rect">
            <a:avLst/>
          </a:prstGeom>
        </p:spPr>
      </p:pic>
      <p:pic>
        <p:nvPicPr>
          <p:cNvPr id="32" name="図 31" descr="コンピューターの画面のスクリーンショット  自動的に生成された説明">
            <a:extLst>
              <a:ext uri="{FF2B5EF4-FFF2-40B4-BE49-F238E27FC236}">
                <a16:creationId xmlns:a16="http://schemas.microsoft.com/office/drawing/2014/main" id="{A73A4025-7EF6-E0F7-5D52-D4692A6FD40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29092" y="2925294"/>
            <a:ext cx="2273353" cy="3932706"/>
          </a:xfrm>
          <a:prstGeom prst="rect">
            <a:avLst/>
          </a:prstGeom>
        </p:spPr>
      </p:pic>
      <p:pic>
        <p:nvPicPr>
          <p:cNvPr id="34" name="図 33" descr="携帯電話の画面のスクリーンショット  自動的に生成された説明">
            <a:extLst>
              <a:ext uri="{FF2B5EF4-FFF2-40B4-BE49-F238E27FC236}">
                <a16:creationId xmlns:a16="http://schemas.microsoft.com/office/drawing/2014/main" id="{FF6D12A6-1EFC-DA8B-61C3-BDB386365034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96211" y="2929180"/>
            <a:ext cx="2273353" cy="3928820"/>
          </a:xfrm>
          <a:prstGeom prst="rect">
            <a:avLst/>
          </a:prstGeom>
        </p:spPr>
      </p:pic>
      <p:pic>
        <p:nvPicPr>
          <p:cNvPr id="36" name="図 35" descr="グラフィカル ユーザー インターフェイス, アプリケーション  自動的に生成された説明">
            <a:extLst>
              <a:ext uri="{FF2B5EF4-FFF2-40B4-BE49-F238E27FC236}">
                <a16:creationId xmlns:a16="http://schemas.microsoft.com/office/drawing/2014/main" id="{2C8E177A-1C24-E97F-A401-58645453691A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313679" y="2929180"/>
            <a:ext cx="2055778" cy="3928820"/>
          </a:xfrm>
          <a:prstGeom prst="rect">
            <a:avLst/>
          </a:prstGeom>
        </p:spPr>
      </p:pic>
      <p:pic>
        <p:nvPicPr>
          <p:cNvPr id="38" name="図 37" descr="携帯電話の画面のスクリーンショット  自動的に生成された説明">
            <a:extLst>
              <a:ext uri="{FF2B5EF4-FFF2-40B4-BE49-F238E27FC236}">
                <a16:creationId xmlns:a16="http://schemas.microsoft.com/office/drawing/2014/main" id="{6F3AF651-CE39-184C-D4F8-3A979C85E8D3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2929180"/>
            <a:ext cx="2286925" cy="3928820"/>
          </a:xfrm>
          <a:prstGeom prst="rect">
            <a:avLst/>
          </a:prstGeom>
        </p:spPr>
      </p:pic>
      <p:grpSp>
        <p:nvGrpSpPr>
          <p:cNvPr id="2" name="グループ化 1">
            <a:extLst>
              <a:ext uri="{FF2B5EF4-FFF2-40B4-BE49-F238E27FC236}">
                <a16:creationId xmlns:a16="http://schemas.microsoft.com/office/drawing/2014/main" id="{8C95D18F-2412-FBA3-E18A-7BE895DBB960}"/>
              </a:ext>
            </a:extLst>
          </p:cNvPr>
          <p:cNvGrpSpPr/>
          <p:nvPr/>
        </p:nvGrpSpPr>
        <p:grpSpPr>
          <a:xfrm>
            <a:off x="7999412" y="92982"/>
            <a:ext cx="1305580" cy="2628452"/>
            <a:chOff x="757204" y="410554"/>
            <a:chExt cx="2966145" cy="5971576"/>
          </a:xfrm>
          <a:effectLst>
            <a:outerShdw dist="91524" dir="5400000" algn="t" rotWithShape="0">
              <a:prstClr val="black">
                <a:alpha val="62038"/>
              </a:prstClr>
            </a:outerShdw>
          </a:effectLst>
        </p:grpSpPr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6964353E-EA04-7CDE-2392-28FF1F5C3039}"/>
                </a:ext>
              </a:extLst>
            </p:cNvPr>
            <p:cNvSpPr txBox="1"/>
            <p:nvPr/>
          </p:nvSpPr>
          <p:spPr>
            <a:xfrm>
              <a:off x="2698230" y="629587"/>
              <a:ext cx="18473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endParaRPr kumimoji="1" lang="ja-JP" altLang="en-US"/>
            </a:p>
          </p:txBody>
        </p:sp>
        <p:pic>
          <p:nvPicPr>
            <p:cNvPr id="5" name="図 4" descr="携帯電話の画面のスクリーンショット  自動的に生成された説明">
              <a:extLst>
                <a:ext uri="{FF2B5EF4-FFF2-40B4-BE49-F238E27FC236}">
                  <a16:creationId xmlns:a16="http://schemas.microsoft.com/office/drawing/2014/main" id="{74F755D4-274D-E01E-D098-AAD28D00990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b="808"/>
            <a:stretch>
              <a:fillRect/>
            </a:stretch>
          </p:blipFill>
          <p:spPr>
            <a:xfrm>
              <a:off x="915892" y="557819"/>
              <a:ext cx="2660427" cy="5710901"/>
            </a:xfrm>
            <a:custGeom>
              <a:avLst/>
              <a:gdLst>
                <a:gd name="connsiteX0" fmla="*/ 430997 w 2626994"/>
                <a:gd name="connsiteY0" fmla="*/ 0 h 5639133"/>
                <a:gd name="connsiteX1" fmla="*/ 2187784 w 2626994"/>
                <a:gd name="connsiteY1" fmla="*/ 0 h 5639133"/>
                <a:gd name="connsiteX2" fmla="*/ 2626994 w 2626994"/>
                <a:gd name="connsiteY2" fmla="*/ 439210 h 5639133"/>
                <a:gd name="connsiteX3" fmla="*/ 2626994 w 2626994"/>
                <a:gd name="connsiteY3" fmla="*/ 5199923 h 5639133"/>
                <a:gd name="connsiteX4" fmla="*/ 2187784 w 2626994"/>
                <a:gd name="connsiteY4" fmla="*/ 5639133 h 5639133"/>
                <a:gd name="connsiteX5" fmla="*/ 430997 w 2626994"/>
                <a:gd name="connsiteY5" fmla="*/ 5639133 h 5639133"/>
                <a:gd name="connsiteX6" fmla="*/ 710 w 2626994"/>
                <a:gd name="connsiteY6" fmla="*/ 5288439 h 5639133"/>
                <a:gd name="connsiteX7" fmla="*/ 0 w 2626994"/>
                <a:gd name="connsiteY7" fmla="*/ 5281394 h 5639133"/>
                <a:gd name="connsiteX8" fmla="*/ 0 w 2626994"/>
                <a:gd name="connsiteY8" fmla="*/ 357739 h 5639133"/>
                <a:gd name="connsiteX9" fmla="*/ 710 w 2626994"/>
                <a:gd name="connsiteY9" fmla="*/ 350694 h 5639133"/>
                <a:gd name="connsiteX10" fmla="*/ 430997 w 2626994"/>
                <a:gd name="connsiteY10" fmla="*/ 0 h 56391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2626994" h="5639133">
                  <a:moveTo>
                    <a:pt x="430997" y="0"/>
                  </a:moveTo>
                  <a:lnTo>
                    <a:pt x="2187784" y="0"/>
                  </a:lnTo>
                  <a:cubicBezTo>
                    <a:pt x="2430353" y="0"/>
                    <a:pt x="2626994" y="196641"/>
                    <a:pt x="2626994" y="439210"/>
                  </a:cubicBezTo>
                  <a:lnTo>
                    <a:pt x="2626994" y="5199923"/>
                  </a:lnTo>
                  <a:cubicBezTo>
                    <a:pt x="2626994" y="5442492"/>
                    <a:pt x="2430353" y="5639133"/>
                    <a:pt x="2187784" y="5639133"/>
                  </a:cubicBezTo>
                  <a:lnTo>
                    <a:pt x="430997" y="5639133"/>
                  </a:lnTo>
                  <a:cubicBezTo>
                    <a:pt x="218749" y="5639133"/>
                    <a:pt x="41665" y="5488580"/>
                    <a:pt x="710" y="5288439"/>
                  </a:cubicBezTo>
                  <a:lnTo>
                    <a:pt x="0" y="5281394"/>
                  </a:lnTo>
                  <a:lnTo>
                    <a:pt x="0" y="357739"/>
                  </a:lnTo>
                  <a:lnTo>
                    <a:pt x="710" y="350694"/>
                  </a:lnTo>
                  <a:cubicBezTo>
                    <a:pt x="41665" y="150553"/>
                    <a:pt x="218749" y="0"/>
                    <a:pt x="430997" y="0"/>
                  </a:cubicBezTo>
                  <a:close/>
                </a:path>
              </a:pathLst>
            </a:custGeom>
          </p:spPr>
        </p:pic>
        <p:pic>
          <p:nvPicPr>
            <p:cNvPr id="7" name="図 6" descr="グラフィカル ユーザー インターフェイス, アプリケーション  自動的に生成された説明">
              <a:extLst>
                <a:ext uri="{FF2B5EF4-FFF2-40B4-BE49-F238E27FC236}">
                  <a16:creationId xmlns:a16="http://schemas.microsoft.com/office/drawing/2014/main" id="{09315504-EF0D-6A8A-24FD-C9BDD999348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57204" y="410554"/>
              <a:ext cx="2966145" cy="597157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9913420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kumimoji="1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936</TotalTime>
  <Words>1557</Words>
  <Application>Microsoft Macintosh PowerPoint</Application>
  <PresentationFormat>ワイド画面</PresentationFormat>
  <Paragraphs>278</Paragraphs>
  <Slides>29</Slides>
  <Notes>9</Notes>
  <HiddenSlides>3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29</vt:i4>
      </vt:variant>
    </vt:vector>
  </HeadingPairs>
  <TitlesOfParts>
    <vt:vector size="38" baseType="lpstr">
      <vt:lpstr>Reggae One</vt:lpstr>
      <vt:lpstr>Toppan Bunkyu Midashi Gothic Ex</vt:lpstr>
      <vt:lpstr>Tsukushi A Round Gothic Bold</vt:lpstr>
      <vt:lpstr>Tsukushi A Round Gothic Regular</vt:lpstr>
      <vt:lpstr>Meiryo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細澤 悠真</dc:creator>
  <cp:lastModifiedBy>細澤 悠真</cp:lastModifiedBy>
  <cp:revision>10</cp:revision>
  <dcterms:created xsi:type="dcterms:W3CDTF">2026-04-10T13:00:37Z</dcterms:created>
  <dcterms:modified xsi:type="dcterms:W3CDTF">2026-04-11T05:36:38Z</dcterms:modified>
</cp:coreProperties>
</file>